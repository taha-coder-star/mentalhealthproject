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8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12954000" y="-2095500"/>
            <a:ext cx="7429500" cy="7429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954405"/>
            <a:ext cx="323850" cy="3238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47800" y="952500"/>
            <a:ext cx="132635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9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MindEase</a:t>
            </a:r>
            <a:endParaRPr lang="en-US" sz="2250" dirty="0"/>
          </a:p>
        </p:txBody>
      </p:sp>
      <p:sp>
        <p:nvSpPr>
          <p:cNvPr id="5" name="Text 1"/>
          <p:cNvSpPr/>
          <p:nvPr/>
        </p:nvSpPr>
        <p:spPr>
          <a:xfrm>
            <a:off x="952500" y="2502218"/>
            <a:ext cx="16874490" cy="2209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0" spc="-36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MindEase</a:t>
            </a:r>
            <a:endParaRPr lang="en-US" sz="18000" dirty="0"/>
          </a:p>
        </p:txBody>
      </p:sp>
      <p:sp>
        <p:nvSpPr>
          <p:cNvPr id="6" name="Text 2"/>
          <p:cNvSpPr/>
          <p:nvPr/>
        </p:nvSpPr>
        <p:spPr>
          <a:xfrm>
            <a:off x="952500" y="5150168"/>
            <a:ext cx="11772900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i="1" dirty="0">
                <a:solidFill>
                  <a:srgbClr val="FFFFFF">
                    <a:alpha val="85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Mental Health Support App Prototype for Students Using Figma / Stitch</a:t>
            </a:r>
            <a:endParaRPr lang="en-US" sz="2850" dirty="0"/>
          </a:p>
        </p:txBody>
      </p:sp>
      <p:sp>
        <p:nvSpPr>
          <p:cNvPr id="7" name="Text 3"/>
          <p:cNvSpPr/>
          <p:nvPr/>
        </p:nvSpPr>
        <p:spPr>
          <a:xfrm>
            <a:off x="952500" y="7195185"/>
            <a:ext cx="804481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b="1" spc="336" kern="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&amp; INSTRUCTOR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952500" y="7545705"/>
            <a:ext cx="804481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and Business Writing (TBW)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952500" y="7900035"/>
            <a:ext cx="8044815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Nazia Imam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52500" y="8387715"/>
            <a:ext cx="8044815" cy="746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National University of Computer and Emerging Sciences — Karachi Campus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952500" y="9229725"/>
            <a:ext cx="80448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500" spc="270" kern="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525000" y="7195185"/>
            <a:ext cx="804481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b="1" spc="336" kern="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525000" y="7545705"/>
            <a:ext cx="3826193" cy="377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 Ahmed </a:t>
            </a:r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23K-0534</a:t>
            </a:r>
            <a:endParaRPr lang="en-US" sz="1725" dirty="0"/>
          </a:p>
        </p:txBody>
      </p:sp>
      <p:sp>
        <p:nvSpPr>
          <p:cNvPr id="14" name="Text 10"/>
          <p:cNvSpPr/>
          <p:nvPr/>
        </p:nvSpPr>
        <p:spPr>
          <a:xfrm>
            <a:off x="13620750" y="7545705"/>
            <a:ext cx="3826193" cy="377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Furqan Halari </a:t>
            </a:r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23K-0556</a:t>
            </a:r>
            <a:endParaRPr lang="en-US" sz="1725" dirty="0"/>
          </a:p>
        </p:txBody>
      </p:sp>
      <p:sp>
        <p:nvSpPr>
          <p:cNvPr id="15" name="Text 11"/>
          <p:cNvSpPr/>
          <p:nvPr/>
        </p:nvSpPr>
        <p:spPr>
          <a:xfrm>
            <a:off x="9525000" y="7942422"/>
            <a:ext cx="3826193" cy="377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Mirza Sarim Ali Baig </a:t>
            </a:r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23K-0048</a:t>
            </a:r>
            <a:endParaRPr lang="en-US" sz="1725" dirty="0"/>
          </a:p>
        </p:txBody>
      </p:sp>
      <p:sp>
        <p:nvSpPr>
          <p:cNvPr id="16" name="Text 12"/>
          <p:cNvSpPr/>
          <p:nvPr/>
        </p:nvSpPr>
        <p:spPr>
          <a:xfrm>
            <a:off x="13620750" y="7942422"/>
            <a:ext cx="3826193" cy="377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Umar bin Abid </a:t>
            </a:r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23K-0009</a:t>
            </a:r>
            <a:endParaRPr lang="en-US" sz="1725" dirty="0"/>
          </a:p>
        </p:txBody>
      </p:sp>
      <p:sp>
        <p:nvSpPr>
          <p:cNvPr id="17" name="Text 13"/>
          <p:cNvSpPr/>
          <p:nvPr/>
        </p:nvSpPr>
        <p:spPr>
          <a:xfrm>
            <a:off x="9525000" y="8339137"/>
            <a:ext cx="3826193" cy="377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Tuaha Ahmed </a:t>
            </a:r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23K-0713</a:t>
            </a:r>
            <a:endParaRPr lang="en-US" sz="1725" dirty="0"/>
          </a:p>
        </p:txBody>
      </p:sp>
      <p:sp>
        <p:nvSpPr>
          <p:cNvPr id="18" name="Text 14"/>
          <p:cNvSpPr/>
          <p:nvPr/>
        </p:nvSpPr>
        <p:spPr>
          <a:xfrm>
            <a:off x="13620750" y="8339137"/>
            <a:ext cx="3826193" cy="3776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Sobaan Nayaar </a:t>
            </a:r>
            <a:pPr algn="l" indent="0" marL="0">
              <a:lnSpc>
                <a:spcPct val="155000"/>
              </a:lnSpc>
              <a:buNone/>
            </a:pPr>
            <a:r>
              <a:rPr lang="en-US" sz="1725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23K-0893</a:t>
            </a:r>
            <a:endParaRPr lang="en-US" sz="17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7790"/>
            <a:ext cx="16874490" cy="87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spc="-63" kern="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of Contents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52500" y="2779395"/>
            <a:ext cx="8039100" cy="1215390"/>
          </a:xfrm>
          <a:prstGeom prst="roundRect">
            <a:avLst>
              <a:gd name="adj" fmla="val 4702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2070" y="3129915"/>
            <a:ext cx="12192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1.0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2750820" y="3251835"/>
            <a:ext cx="462294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&amp; Problem Statement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296400" y="2779395"/>
            <a:ext cx="8039100" cy="1215390"/>
          </a:xfrm>
          <a:prstGeom prst="roundRect">
            <a:avLst>
              <a:gd name="adj" fmla="val 4702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65970" y="3129915"/>
            <a:ext cx="12192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1.1</a:t>
            </a:r>
            <a:endParaRPr lang="en-US" sz="4050" dirty="0"/>
          </a:p>
        </p:txBody>
      </p:sp>
      <p:sp>
        <p:nvSpPr>
          <p:cNvPr id="9" name="Text 7"/>
          <p:cNvSpPr/>
          <p:nvPr/>
        </p:nvSpPr>
        <p:spPr>
          <a:xfrm>
            <a:off x="11094720" y="3251835"/>
            <a:ext cx="2423041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" y="4223385"/>
            <a:ext cx="8039100" cy="1215390"/>
          </a:xfrm>
          <a:prstGeom prst="roundRect">
            <a:avLst>
              <a:gd name="adj" fmla="val 4702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2070" y="4573905"/>
            <a:ext cx="12192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2.0</a:t>
            </a:r>
            <a:endParaRPr lang="en-US" sz="4050" dirty="0"/>
          </a:p>
        </p:txBody>
      </p:sp>
      <p:sp>
        <p:nvSpPr>
          <p:cNvPr id="12" name="Text 10"/>
          <p:cNvSpPr/>
          <p:nvPr/>
        </p:nvSpPr>
        <p:spPr>
          <a:xfrm>
            <a:off x="2750820" y="4695825"/>
            <a:ext cx="1821418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296400" y="4223385"/>
            <a:ext cx="8039100" cy="1215390"/>
          </a:xfrm>
          <a:prstGeom prst="roundRect">
            <a:avLst>
              <a:gd name="adj" fmla="val 4702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65970" y="4573905"/>
            <a:ext cx="12192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3.0</a:t>
            </a:r>
            <a:endParaRPr lang="en-US" sz="4050" dirty="0"/>
          </a:p>
        </p:txBody>
      </p:sp>
      <p:sp>
        <p:nvSpPr>
          <p:cNvPr id="15" name="Text 13"/>
          <p:cNvSpPr/>
          <p:nvPr/>
        </p:nvSpPr>
        <p:spPr>
          <a:xfrm>
            <a:off x="11094720" y="4695825"/>
            <a:ext cx="305813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Findings &amp; Discussion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52500" y="5667375"/>
            <a:ext cx="8039100" cy="1215390"/>
          </a:xfrm>
          <a:prstGeom prst="roundRect">
            <a:avLst>
              <a:gd name="adj" fmla="val 4702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2070" y="6017895"/>
            <a:ext cx="12192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4.0</a:t>
            </a:r>
            <a:endParaRPr lang="en-US" sz="4050" dirty="0"/>
          </a:p>
        </p:txBody>
      </p:sp>
      <p:sp>
        <p:nvSpPr>
          <p:cNvPr id="18" name="Text 16"/>
          <p:cNvSpPr/>
          <p:nvPr/>
        </p:nvSpPr>
        <p:spPr>
          <a:xfrm>
            <a:off x="2750820" y="6139815"/>
            <a:ext cx="1551623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296400" y="5667375"/>
            <a:ext cx="8039100" cy="1215390"/>
          </a:xfrm>
          <a:prstGeom prst="roundRect">
            <a:avLst>
              <a:gd name="adj" fmla="val 4702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65970" y="6017895"/>
            <a:ext cx="12192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4.1</a:t>
            </a:r>
            <a:endParaRPr lang="en-US" sz="4050" dirty="0"/>
          </a:p>
        </p:txBody>
      </p:sp>
      <p:sp>
        <p:nvSpPr>
          <p:cNvPr id="21" name="Text 19"/>
          <p:cNvSpPr/>
          <p:nvPr/>
        </p:nvSpPr>
        <p:spPr>
          <a:xfrm>
            <a:off x="11094720" y="6139815"/>
            <a:ext cx="2486620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Recommendations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52500" y="7111365"/>
            <a:ext cx="16383000" cy="1215390"/>
          </a:xfrm>
          <a:prstGeom prst="roundRect">
            <a:avLst>
              <a:gd name="adj" fmla="val 4702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2070" y="7461885"/>
            <a:ext cx="12192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4050" dirty="0"/>
          </a:p>
        </p:txBody>
      </p:sp>
      <p:sp>
        <p:nvSpPr>
          <p:cNvPr id="24" name="Text 22"/>
          <p:cNvSpPr/>
          <p:nvPr/>
        </p:nvSpPr>
        <p:spPr>
          <a:xfrm>
            <a:off x="2750820" y="7583805"/>
            <a:ext cx="1514594" cy="426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952500" y="9736455"/>
            <a:ext cx="95250" cy="9525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26" name="Text 24"/>
          <p:cNvSpPr/>
          <p:nvPr/>
        </p:nvSpPr>
        <p:spPr>
          <a:xfrm>
            <a:off x="1181100" y="9681210"/>
            <a:ext cx="27511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· TBW RESEARCH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6628030" y="9681210"/>
            <a:ext cx="7836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28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7790"/>
            <a:ext cx="16874490" cy="87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spc="-63" kern="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52500" y="3103245"/>
            <a:ext cx="12361545" cy="417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5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study investigates the mental health needs of university students at FAST-NUCES Karachi and proposes a digital solution in the form of a mobile application prototype. A survey of 19 students revealed that 94.7% experience stress, yet 89.5% use no mental health app. Key barriers include stigma, lack of culturally relevant tools, and poor app usability. Using a User-Centered Design approach, a high-fidelity prototype called </a:t>
            </a:r>
            <a:pPr algn="l" indent="0" marL="0">
              <a:lnSpc>
                <a:spcPct val="155000"/>
              </a:lnSpc>
              <a:buNone/>
            </a:pPr>
            <a:r>
              <a:rPr lang="en-US" sz="2550" i="1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MindEase </a:t>
            </a:r>
            <a:pPr algn="l" indent="0" marL="0">
              <a:lnSpc>
                <a:spcPct val="155000"/>
              </a:lnSpc>
              <a:buNone/>
            </a:pPr>
            <a:r>
              <a:rPr lang="en-US" sz="25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was developed in Stitch — comprising 9 screens designed to be anonymous, culturally relevant, and visually simple.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3716000" y="2779395"/>
            <a:ext cx="9525" cy="4781550"/>
          </a:xfrm>
          <a:prstGeom prst="rect">
            <a:avLst/>
          </a:prstGeom>
          <a:solidFill>
            <a:srgbClr val="D8E0E8"/>
          </a:solidFill>
          <a:ln/>
        </p:spPr>
      </p:sp>
      <p:sp>
        <p:nvSpPr>
          <p:cNvPr id="6" name="Text 4"/>
          <p:cNvSpPr/>
          <p:nvPr/>
        </p:nvSpPr>
        <p:spPr>
          <a:xfrm>
            <a:off x="14104620" y="2779395"/>
            <a:ext cx="332780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6300" dirty="0"/>
          </a:p>
        </p:txBody>
      </p:sp>
      <p:sp>
        <p:nvSpPr>
          <p:cNvPr id="7" name="Text 5"/>
          <p:cNvSpPr/>
          <p:nvPr/>
        </p:nvSpPr>
        <p:spPr>
          <a:xfrm>
            <a:off x="14104620" y="3655695"/>
            <a:ext cx="3327807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surveyed at FAST-NUCES Karachi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104620" y="4585335"/>
            <a:ext cx="332780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6300" dirty="0"/>
          </a:p>
        </p:txBody>
      </p:sp>
      <p:sp>
        <p:nvSpPr>
          <p:cNvPr id="9" name="Text 7"/>
          <p:cNvSpPr/>
          <p:nvPr/>
        </p:nvSpPr>
        <p:spPr>
          <a:xfrm>
            <a:off x="14104620" y="5461635"/>
            <a:ext cx="3327807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screens designed in Stitch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4104620" y="6391275"/>
            <a:ext cx="332780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UCD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14104620" y="7267575"/>
            <a:ext cx="3327807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User-Centered Design methodology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52500" y="9736455"/>
            <a:ext cx="95250" cy="9525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9681210"/>
            <a:ext cx="27511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· TBW RESEARCH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6628030" y="9681210"/>
            <a:ext cx="7836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28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E8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14668500" y="6667500"/>
            <a:ext cx="5334000" cy="533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952500"/>
            <a:ext cx="16874490" cy="7385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5500" spc="-765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1.0</a:t>
            </a:r>
            <a:endParaRPr lang="en-US" sz="25500" dirty="0"/>
          </a:p>
        </p:txBody>
      </p:sp>
      <p:sp>
        <p:nvSpPr>
          <p:cNvPr id="4" name="Shape 1"/>
          <p:cNvSpPr/>
          <p:nvPr/>
        </p:nvSpPr>
        <p:spPr>
          <a:xfrm>
            <a:off x="952500" y="8300085"/>
            <a:ext cx="163830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952500" y="8770620"/>
            <a:ext cx="3449583" cy="79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spc="-27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3465896" y="8650605"/>
            <a:ext cx="3869605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FFFFFF">
                    <a:alpha val="78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Understanding the problem before designing the solution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· 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7790"/>
            <a:ext cx="16874490" cy="1718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spc="-63" kern="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Stress is loud. The places to talk about it are quiet.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52500" y="3657600"/>
            <a:ext cx="3895725" cy="4091940"/>
          </a:xfrm>
          <a:prstGeom prst="roundRect">
            <a:avLst>
              <a:gd name="adj" fmla="val 1467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46258" y="3893820"/>
            <a:ext cx="30384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03020" y="4122420"/>
            <a:ext cx="3290525" cy="1196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spc="-192" kern="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94</a:t>
            </a:r>
            <a:pPr algn="l" indent="0" marL="0">
              <a:lnSpc>
                <a:spcPct val="95000"/>
              </a:lnSpc>
              <a:buNone/>
            </a:pPr>
            <a:r>
              <a:rPr lang="en-US" sz="4800" spc="-192" kern="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%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1303020" y="6720840"/>
            <a:ext cx="329052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report experiencing stress regularly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14925" y="3657600"/>
            <a:ext cx="3895725" cy="4091940"/>
          </a:xfrm>
          <a:prstGeom prst="roundRect">
            <a:avLst>
              <a:gd name="adj" fmla="val 1467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8682" y="3893820"/>
            <a:ext cx="30384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65445" y="4122420"/>
            <a:ext cx="3290525" cy="1196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spc="-192" kern="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89</a:t>
            </a:r>
            <a:pPr algn="l" indent="0" marL="0">
              <a:lnSpc>
                <a:spcPct val="95000"/>
              </a:lnSpc>
              <a:buNone/>
            </a:pPr>
            <a:r>
              <a:rPr lang="en-US" sz="4800" spc="-192" kern="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%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5465445" y="6720840"/>
            <a:ext cx="329052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use no mental health application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277350" y="3657600"/>
            <a:ext cx="3895725" cy="4091940"/>
          </a:xfrm>
          <a:prstGeom prst="roundRect">
            <a:avLst>
              <a:gd name="adj" fmla="val 1467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71108" y="3893820"/>
            <a:ext cx="30384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27870" y="4122420"/>
            <a:ext cx="3290525" cy="1196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spc="-192" kern="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57</a:t>
            </a:r>
            <a:pPr algn="l" indent="0" marL="0">
              <a:lnSpc>
                <a:spcPct val="95000"/>
              </a:lnSpc>
              <a:buNone/>
            </a:pPr>
            <a:r>
              <a:rPr lang="en-US" sz="4800" spc="-192" kern="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%</a:t>
            </a:r>
            <a:endParaRPr lang="en-US" sz="9600" dirty="0"/>
          </a:p>
        </p:txBody>
      </p:sp>
      <p:sp>
        <p:nvSpPr>
          <p:cNvPr id="15" name="Text 13"/>
          <p:cNvSpPr/>
          <p:nvPr/>
        </p:nvSpPr>
        <p:spPr>
          <a:xfrm>
            <a:off x="9627870" y="6720840"/>
            <a:ext cx="329052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to self-manage instead of seeking help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439775" y="3657600"/>
            <a:ext cx="3895725" cy="4091940"/>
          </a:xfrm>
          <a:prstGeom prst="roundRect">
            <a:avLst>
              <a:gd name="adj" fmla="val 1467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833533" y="3893820"/>
            <a:ext cx="30384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90295" y="4122420"/>
            <a:ext cx="3290525" cy="1196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spc="-192" kern="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84</a:t>
            </a:r>
            <a:pPr algn="l" indent="0" marL="0">
              <a:lnSpc>
                <a:spcPct val="95000"/>
              </a:lnSpc>
              <a:buNone/>
            </a:pPr>
            <a:r>
              <a:rPr lang="en-US" sz="4800" spc="-192" kern="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%</a:t>
            </a:r>
            <a:endParaRPr lang="en-US" sz="9600" dirty="0"/>
          </a:p>
        </p:txBody>
      </p:sp>
      <p:sp>
        <p:nvSpPr>
          <p:cNvPr id="19" name="Text 17"/>
          <p:cNvSpPr/>
          <p:nvPr/>
        </p:nvSpPr>
        <p:spPr>
          <a:xfrm>
            <a:off x="13790295" y="6720840"/>
            <a:ext cx="3290525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career uncertainty as their top stressor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2500" y="9736455"/>
            <a:ext cx="95250" cy="9525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21" name="Text 19"/>
          <p:cNvSpPr/>
          <p:nvPr/>
        </p:nvSpPr>
        <p:spPr>
          <a:xfrm>
            <a:off x="1181100" y="9681210"/>
            <a:ext cx="27511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· TBW RESEARCH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6628030" y="9681210"/>
            <a:ext cx="7836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28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· PROBLEM STATEMENT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7790"/>
            <a:ext cx="16874490" cy="1718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spc="-63" kern="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research question and four objectives.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52500" y="3505200"/>
            <a:ext cx="16383000" cy="2076450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5574030"/>
            <a:ext cx="16383000" cy="9525"/>
          </a:xfrm>
          <a:prstGeom prst="rect">
            <a:avLst/>
          </a:prstGeom>
          <a:solidFill>
            <a:srgbClr val="D8E0E8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3505200"/>
            <a:ext cx="16383000" cy="9525"/>
          </a:xfrm>
          <a:prstGeom prst="rect">
            <a:avLst/>
          </a:prstGeom>
          <a:solidFill>
            <a:srgbClr val="D8E0E8"/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3505200"/>
            <a:ext cx="53340" cy="2076450"/>
          </a:xfrm>
          <a:prstGeom prst="rect">
            <a:avLst/>
          </a:prstGeom>
          <a:solidFill>
            <a:srgbClr val="5E89A8"/>
          </a:solidFill>
          <a:ln/>
        </p:spPr>
      </p:sp>
      <p:sp>
        <p:nvSpPr>
          <p:cNvPr id="8" name="Shape 6"/>
          <p:cNvSpPr/>
          <p:nvPr/>
        </p:nvSpPr>
        <p:spPr>
          <a:xfrm>
            <a:off x="17327880" y="3505200"/>
            <a:ext cx="9525" cy="2076450"/>
          </a:xfrm>
          <a:prstGeom prst="rect">
            <a:avLst/>
          </a:prstGeom>
          <a:solidFill>
            <a:srgbClr val="D8E0E8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3893820"/>
            <a:ext cx="1586986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4309110"/>
            <a:ext cx="15869869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mental health apps often lack simplicity and student-focused features, leading to low engagement. </a:t>
            </a:r>
            <a:pPr algn="l" indent="0" marL="0">
              <a:lnSpc>
                <a:spcPct val="145000"/>
              </a:lnSpc>
              <a:buNone/>
            </a:pPr>
            <a:r>
              <a:rPr lang="en-US" sz="2400" i="1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a mental health support application be designed using Figma / Stitch to improve usability and accessibility for students?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" y="5924550"/>
            <a:ext cx="8077200" cy="1767840"/>
          </a:xfrm>
          <a:prstGeom prst="roundRect">
            <a:avLst>
              <a:gd name="adj" fmla="val 3233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03020" y="650367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179320" y="6641306"/>
            <a:ext cx="5670369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mental health needs of university students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258300" y="5924550"/>
            <a:ext cx="8077200" cy="1767840"/>
          </a:xfrm>
          <a:prstGeom prst="roundRect">
            <a:avLst>
              <a:gd name="adj" fmla="val 3233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8820" y="650367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10485120" y="6641306"/>
            <a:ext cx="5091043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low-fidelity wireframe of the application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52500" y="7920990"/>
            <a:ext cx="8077200" cy="1767840"/>
          </a:xfrm>
          <a:prstGeom prst="roundRect">
            <a:avLst>
              <a:gd name="adj" fmla="val 3233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03020" y="850011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2179320" y="8637747"/>
            <a:ext cx="4566536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high-fidelity interactive prototype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258300" y="7920990"/>
            <a:ext cx="8077200" cy="1767840"/>
          </a:xfrm>
          <a:prstGeom prst="roundRect">
            <a:avLst>
              <a:gd name="adj" fmla="val 3233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8820" y="850011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10485120" y="8637747"/>
            <a:ext cx="5324049" cy="372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usability through structured user feedback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52500" y="9736455"/>
            <a:ext cx="95250" cy="9525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24" name="Text 22"/>
          <p:cNvSpPr/>
          <p:nvPr/>
        </p:nvSpPr>
        <p:spPr>
          <a:xfrm>
            <a:off x="1181100" y="9681210"/>
            <a:ext cx="27511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· TBW RESEARCH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6628030" y="9681210"/>
            <a:ext cx="7836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28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E8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14668500" y="6667500"/>
            <a:ext cx="5334000" cy="533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952500"/>
            <a:ext cx="16874490" cy="7385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5500" spc="-765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1.1</a:t>
            </a:r>
            <a:endParaRPr lang="en-US" sz="25500" dirty="0"/>
          </a:p>
        </p:txBody>
      </p:sp>
      <p:sp>
        <p:nvSpPr>
          <p:cNvPr id="4" name="Shape 1"/>
          <p:cNvSpPr/>
          <p:nvPr/>
        </p:nvSpPr>
        <p:spPr>
          <a:xfrm>
            <a:off x="952500" y="8300085"/>
            <a:ext cx="163830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952500" y="8770620"/>
            <a:ext cx="5058791" cy="79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spc="-27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2496102" y="8650605"/>
            <a:ext cx="4839398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FFFFFF">
                    <a:alpha val="78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research tells us about student mental health and digital solutions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· LITERATURE REVIEW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7790"/>
            <a:ext cx="16874490" cy="1718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spc="-63" kern="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Mental health challenges in university students.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52500" y="3619500"/>
            <a:ext cx="7905750" cy="5273040"/>
          </a:xfrm>
          <a:prstGeom prst="roundRect">
            <a:avLst>
              <a:gd name="adj" fmla="val 1084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4712970"/>
            <a:ext cx="6976110" cy="9525"/>
          </a:xfrm>
          <a:prstGeom prst="rect">
            <a:avLst/>
          </a:prstGeom>
          <a:solidFill>
            <a:srgbClr val="D8E0E8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4084320"/>
            <a:ext cx="718539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Struggle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243965" y="4987290"/>
            <a:ext cx="7225665" cy="351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workload and deadlines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isolation and adjustment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academic environments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judgment and stigma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 to counseling services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429750" y="3619500"/>
            <a:ext cx="7905750" cy="5273040"/>
          </a:xfrm>
          <a:prstGeom prst="roundRect">
            <a:avLst>
              <a:gd name="adj" fmla="val 1084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94570" y="4712970"/>
            <a:ext cx="6976110" cy="9525"/>
          </a:xfrm>
          <a:prstGeom prst="rect">
            <a:avLst/>
          </a:prstGeom>
          <a:solidFill>
            <a:srgbClr val="D8E0E8"/>
          </a:solidFill>
          <a:ln/>
        </p:spPr>
      </p:sp>
      <p:sp>
        <p:nvSpPr>
          <p:cNvPr id="10" name="Text 8"/>
          <p:cNvSpPr/>
          <p:nvPr/>
        </p:nvSpPr>
        <p:spPr>
          <a:xfrm>
            <a:off x="9894570" y="4084320"/>
            <a:ext cx="718539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Students Stay Silent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721215" y="4987290"/>
            <a:ext cx="7225665" cy="281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stigma around mental health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awareness of available resources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issues with support systems</a:t>
            </a:r>
            <a:endParaRPr lang="en-US" sz="19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being judged or labeled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52500" y="9736455"/>
            <a:ext cx="95250" cy="9525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9681210"/>
            <a:ext cx="27511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· TBW RESEARCH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6628030" y="9681210"/>
            <a:ext cx="7836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28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· LITERATURE REVIEW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7790"/>
            <a:ext cx="16874490" cy="87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spc="-63" kern="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Digital solutions &amp; design principles.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52500" y="2779395"/>
            <a:ext cx="5257800" cy="5806440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1120" y="3206115"/>
            <a:ext cx="461497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FA3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341120" y="37623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A8C5DA"/>
          </a:solidFill>
          <a:ln/>
        </p:spPr>
      </p:sp>
      <p:sp>
        <p:nvSpPr>
          <p:cNvPr id="7" name="Text 5"/>
          <p:cNvSpPr/>
          <p:nvPr/>
        </p:nvSpPr>
        <p:spPr>
          <a:xfrm>
            <a:off x="1303020" y="37623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41120" y="4524375"/>
            <a:ext cx="4614977" cy="47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1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mHealth Apps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341120" y="5193030"/>
            <a:ext cx="461497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tracking, journaling, and guided exercises available anytime, anywhere. Research shows measurable reductions in anxiety symptoms across student populations.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15100" y="2779395"/>
            <a:ext cx="5257800" cy="5806440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3206115"/>
            <a:ext cx="461497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FA3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6903720" y="37623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A8C5DA"/>
          </a:solidFill>
          <a:ln/>
        </p:spPr>
      </p:sp>
      <p:sp>
        <p:nvSpPr>
          <p:cNvPr id="13" name="Text 11"/>
          <p:cNvSpPr/>
          <p:nvPr/>
        </p:nvSpPr>
        <p:spPr>
          <a:xfrm>
            <a:off x="6865620" y="37623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903720" y="4524375"/>
            <a:ext cx="4614977" cy="47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1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HCI Principles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6903720" y="5193030"/>
            <a:ext cx="461497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Simplicity, clarity, and reduced cognitive load. Interfaces in this domain must be supportive, intuitive, and non-intimidating to users in vulnerable states.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077700" y="2779395"/>
            <a:ext cx="5257800" cy="5806440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66320" y="3206115"/>
            <a:ext cx="461497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FA3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2466320" y="376237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A8C5DA"/>
          </a:solidFill>
          <a:ln/>
        </p:spPr>
      </p:sp>
      <p:sp>
        <p:nvSpPr>
          <p:cNvPr id="19" name="Text 17"/>
          <p:cNvSpPr/>
          <p:nvPr/>
        </p:nvSpPr>
        <p:spPr>
          <a:xfrm>
            <a:off x="12428220" y="376237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466320" y="4524375"/>
            <a:ext cx="4614977" cy="4781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1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User-Centered Design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12466320" y="5193030"/>
            <a:ext cx="461497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feedback and iteration. User comfort and emotional safety are critical factors in any tool that asks people to share what they are feeling.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9736455"/>
            <a:ext cx="95250" cy="9525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23" name="Text 21"/>
          <p:cNvSpPr/>
          <p:nvPr/>
        </p:nvSpPr>
        <p:spPr>
          <a:xfrm>
            <a:off x="1181100" y="9681210"/>
            <a:ext cx="27511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· TBW RESEARCH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6628030" y="9681210"/>
            <a:ext cx="7836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28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· LITERATURE REVIEW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7790"/>
            <a:ext cx="16874490" cy="87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spc="-63" kern="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Stitch for prototyping?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52500" y="2817495"/>
            <a:ext cx="3093720" cy="4472940"/>
          </a:xfrm>
          <a:prstGeom prst="roundRect">
            <a:avLst>
              <a:gd name="adj" fmla="val 1847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1120" y="3244215"/>
            <a:ext cx="2392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FA3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341120" y="3800475"/>
            <a:ext cx="2392680" cy="750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Rapid prototyping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341120" y="4741545"/>
            <a:ext cx="23926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screens without writing code.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74820" y="2817495"/>
            <a:ext cx="3093720" cy="4472940"/>
          </a:xfrm>
          <a:prstGeom prst="roundRect">
            <a:avLst>
              <a:gd name="adj" fmla="val 1847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3244215"/>
            <a:ext cx="2392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FA3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663440" y="3800475"/>
            <a:ext cx="2392680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Iterative design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63440" y="4385310"/>
            <a:ext cx="23926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quickly based on real user feedback.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597140" y="2817495"/>
            <a:ext cx="3093720" cy="4472940"/>
          </a:xfrm>
          <a:prstGeom prst="roundRect">
            <a:avLst>
              <a:gd name="adj" fmla="val 1847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85760" y="3244215"/>
            <a:ext cx="2392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FA3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7985760" y="3800475"/>
            <a:ext cx="2392680" cy="750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collaboration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7985760" y="4741545"/>
            <a:ext cx="23926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team contributes from any device.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919460" y="2817495"/>
            <a:ext cx="3093720" cy="4472940"/>
          </a:xfrm>
          <a:prstGeom prst="roundRect">
            <a:avLst>
              <a:gd name="adj" fmla="val 1847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08081" y="3244215"/>
            <a:ext cx="2392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FA3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308081" y="3800475"/>
            <a:ext cx="2392680" cy="750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Catches flaws early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1308081" y="4741545"/>
            <a:ext cx="239268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design problems before development begins.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4241781" y="2817495"/>
            <a:ext cx="3093720" cy="4472940"/>
          </a:xfrm>
          <a:prstGeom prst="roundRect">
            <a:avLst>
              <a:gd name="adj" fmla="val 1847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0" y="3244215"/>
            <a:ext cx="2392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FA3B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4630400" y="3800475"/>
            <a:ext cx="2392680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Cost-effective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4630400" y="4385310"/>
            <a:ext cx="23926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for student-led research projects.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9736455"/>
            <a:ext cx="95250" cy="9525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25" name="Text 23"/>
          <p:cNvSpPr/>
          <p:nvPr/>
        </p:nvSpPr>
        <p:spPr>
          <a:xfrm>
            <a:off x="1181100" y="9681210"/>
            <a:ext cx="27511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· TBW RESEARCH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6628030" y="9681210"/>
            <a:ext cx="7836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E8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14668500" y="6667500"/>
            <a:ext cx="5334000" cy="533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952500"/>
            <a:ext cx="16874490" cy="7505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5500" spc="-765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2.0</a:t>
            </a:r>
            <a:endParaRPr lang="en-US" sz="25500" dirty="0"/>
          </a:p>
        </p:txBody>
      </p:sp>
      <p:sp>
        <p:nvSpPr>
          <p:cNvPr id="4" name="Shape 1"/>
          <p:cNvSpPr/>
          <p:nvPr/>
        </p:nvSpPr>
        <p:spPr>
          <a:xfrm>
            <a:off x="952500" y="8420100"/>
            <a:ext cx="163830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952500" y="8770620"/>
            <a:ext cx="3767573" cy="79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spc="-27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3024656" y="9087803"/>
            <a:ext cx="4310843" cy="475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FFFFFF">
                    <a:alpha val="78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 conducted our research</a:t>
            </a:r>
            <a:endParaRPr lang="en-US" sz="2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· METHODOLOGY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7790"/>
            <a:ext cx="16874490" cy="87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spc="-63" kern="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methodology.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52500" y="2817495"/>
            <a:ext cx="3169920" cy="2910840"/>
          </a:xfrm>
          <a:prstGeom prst="roundRect">
            <a:avLst>
              <a:gd name="adj" fmla="val 1963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3129915"/>
            <a:ext cx="457200" cy="45720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6" name="Text 4"/>
          <p:cNvSpPr/>
          <p:nvPr/>
        </p:nvSpPr>
        <p:spPr>
          <a:xfrm>
            <a:off x="1150620" y="31299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88720" y="3720465"/>
            <a:ext cx="27784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Research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88720" y="4158615"/>
            <a:ext cx="2778405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19 students conducted via Google Forms.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55770" y="2817495"/>
            <a:ext cx="3169920" cy="2910840"/>
          </a:xfrm>
          <a:prstGeom prst="roundRect">
            <a:avLst>
              <a:gd name="adj" fmla="val 1963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1990" y="3129915"/>
            <a:ext cx="457200" cy="45720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11" name="Text 9"/>
          <p:cNvSpPr/>
          <p:nvPr/>
        </p:nvSpPr>
        <p:spPr>
          <a:xfrm>
            <a:off x="4453890" y="31299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491990" y="3720465"/>
            <a:ext cx="27784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Analysis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491990" y="4158615"/>
            <a:ext cx="2778405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quantitative and qualitative coding.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559040" y="2817495"/>
            <a:ext cx="3169920" cy="2910840"/>
          </a:xfrm>
          <a:prstGeom prst="roundRect">
            <a:avLst>
              <a:gd name="adj" fmla="val 1963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95260" y="3129915"/>
            <a:ext cx="457200" cy="45720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16" name="Text 14"/>
          <p:cNvSpPr/>
          <p:nvPr/>
        </p:nvSpPr>
        <p:spPr>
          <a:xfrm>
            <a:off x="7757160" y="31299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795260" y="3720465"/>
            <a:ext cx="27784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Wireframing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795260" y="4158615"/>
            <a:ext cx="2778405" cy="27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Low-fidelity layouts for core flows.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0862310" y="2817495"/>
            <a:ext cx="3169920" cy="2910840"/>
          </a:xfrm>
          <a:prstGeom prst="roundRect">
            <a:avLst>
              <a:gd name="adj" fmla="val 1963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98531" y="3129915"/>
            <a:ext cx="457200" cy="45720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21" name="Text 19"/>
          <p:cNvSpPr/>
          <p:nvPr/>
        </p:nvSpPr>
        <p:spPr>
          <a:xfrm>
            <a:off x="11060431" y="31299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098531" y="3720465"/>
            <a:ext cx="27784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Prototyping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1098531" y="4158615"/>
            <a:ext cx="2778405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high-fidelity screens designed in Stitch.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4165581" y="2817495"/>
            <a:ext cx="3169920" cy="2910840"/>
          </a:xfrm>
          <a:prstGeom prst="roundRect">
            <a:avLst>
              <a:gd name="adj" fmla="val 1963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401800" y="3129915"/>
            <a:ext cx="457200" cy="45720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26" name="Text 24"/>
          <p:cNvSpPr/>
          <p:nvPr/>
        </p:nvSpPr>
        <p:spPr>
          <a:xfrm>
            <a:off x="14363700" y="31299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4401800" y="3720465"/>
            <a:ext cx="27784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4401800" y="4158615"/>
            <a:ext cx="2778405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usability feedback and review.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52500" y="6109335"/>
            <a:ext cx="5308521" cy="1040130"/>
          </a:xfrm>
          <a:prstGeom prst="roundRect">
            <a:avLst>
              <a:gd name="adj" fmla="val 5495"/>
            </a:avLst>
          </a:prstGeom>
          <a:ln w="7620">
            <a:solidFill>
              <a:srgbClr val="D8E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26820" y="6345555"/>
            <a:ext cx="490267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26820" y="6585585"/>
            <a:ext cx="4902677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Forms + Stitch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6489621" y="6109335"/>
            <a:ext cx="5308640" cy="1040130"/>
          </a:xfrm>
          <a:prstGeom prst="roundRect">
            <a:avLst>
              <a:gd name="adj" fmla="val 5495"/>
            </a:avLst>
          </a:prstGeom>
          <a:ln w="7620">
            <a:solidFill>
              <a:srgbClr val="D8E0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3941" y="6345555"/>
            <a:ext cx="490280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63941" y="6585585"/>
            <a:ext cx="4902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 FAST-NUCES students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12026860" y="6109335"/>
            <a:ext cx="5308640" cy="1040130"/>
          </a:xfrm>
          <a:prstGeom prst="roundRect">
            <a:avLst>
              <a:gd name="adj" fmla="val 5495"/>
            </a:avLst>
          </a:prstGeom>
          <a:ln w="7620">
            <a:solidFill>
              <a:srgbClr val="D8E0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301181" y="6345555"/>
            <a:ext cx="490280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88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2301181" y="6585585"/>
            <a:ext cx="4902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Mixed (survey + open-ended)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952500" y="9736455"/>
            <a:ext cx="95250" cy="9525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39" name="Text 37"/>
          <p:cNvSpPr/>
          <p:nvPr/>
        </p:nvSpPr>
        <p:spPr>
          <a:xfrm>
            <a:off x="1181100" y="9681210"/>
            <a:ext cx="27511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· TBW RESEARCH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6628030" y="9681210"/>
            <a:ext cx="7836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5E8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14668500" y="6667500"/>
            <a:ext cx="5334000" cy="533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952500"/>
            <a:ext cx="16874490" cy="7505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5500" spc="-765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3.0</a:t>
            </a:r>
            <a:endParaRPr lang="en-US" sz="25500" dirty="0"/>
          </a:p>
        </p:txBody>
      </p:sp>
      <p:sp>
        <p:nvSpPr>
          <p:cNvPr id="4" name="Shape 1"/>
          <p:cNvSpPr/>
          <p:nvPr/>
        </p:nvSpPr>
        <p:spPr>
          <a:xfrm>
            <a:off x="952500" y="8420100"/>
            <a:ext cx="163830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952500" y="8770620"/>
            <a:ext cx="6401883" cy="79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spc="-27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Findings &amp; Discussion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4055276" y="9087803"/>
            <a:ext cx="3280224" cy="475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FFFFFF">
                    <a:alpha val="78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19 students told us</a:t>
            </a:r>
            <a:endParaRPr lang="en-US" sz="2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· FINDINGS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7790"/>
            <a:ext cx="16874490" cy="87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spc="-63" kern="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 we surveyed.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52500" y="2817495"/>
            <a:ext cx="8282107" cy="4343400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3282315"/>
            <a:ext cx="7573041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5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6500" dirty="0"/>
          </a:p>
        </p:txBody>
      </p:sp>
      <p:sp>
        <p:nvSpPr>
          <p:cNvPr id="6" name="Text 4"/>
          <p:cNvSpPr/>
          <p:nvPr/>
        </p:nvSpPr>
        <p:spPr>
          <a:xfrm>
            <a:off x="1417320" y="5396865"/>
            <a:ext cx="7573041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respondents — all from FAST-NUCES Karachi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417320" y="6174105"/>
            <a:ext cx="4913352" cy="457200"/>
          </a:xfrm>
          <a:prstGeom prst="roundRect">
            <a:avLst>
              <a:gd name="adj" fmla="val 12500"/>
            </a:avLst>
          </a:prstGeom>
          <a:solidFill>
            <a:srgbClr val="5E89A8"/>
          </a:solidFill>
          <a:ln/>
        </p:spPr>
      </p:sp>
      <p:sp>
        <p:nvSpPr>
          <p:cNvPr id="8" name="Text 6"/>
          <p:cNvSpPr/>
          <p:nvPr/>
        </p:nvSpPr>
        <p:spPr>
          <a:xfrm>
            <a:off x="1343620" y="6174105"/>
            <a:ext cx="506075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male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502122" y="6174105"/>
            <a:ext cx="2267664" cy="457200"/>
          </a:xfrm>
          <a:prstGeom prst="roundRect">
            <a:avLst>
              <a:gd name="adj" fmla="val 12500"/>
            </a:avLst>
          </a:prstGeom>
          <a:solidFill>
            <a:srgbClr val="A8C5DA"/>
          </a:solidFill>
          <a:ln/>
        </p:spPr>
      </p:sp>
      <p:sp>
        <p:nvSpPr>
          <p:cNvPr id="10" name="Text 8"/>
          <p:cNvSpPr/>
          <p:nvPr/>
        </p:nvSpPr>
        <p:spPr>
          <a:xfrm>
            <a:off x="6464022" y="6174105"/>
            <a:ext cx="234386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female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806107" y="2817495"/>
            <a:ext cx="7529393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18527" y="3133725"/>
            <a:ext cx="2313265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or 4th year students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324659" y="3053715"/>
            <a:ext cx="77462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84%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806107" y="3960495"/>
            <a:ext cx="7529393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18527" y="4276725"/>
            <a:ext cx="3063039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/ Computer Science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324659" y="4196715"/>
            <a:ext cx="77462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95%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806107" y="5103495"/>
            <a:ext cx="7529393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18527" y="5419725"/>
            <a:ext cx="2698692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Karachi campus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134159" y="5339715"/>
            <a:ext cx="965121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9806107" y="6246495"/>
            <a:ext cx="7529393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18527" y="6562725"/>
            <a:ext cx="2620697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Recruited via Google Forms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964615" y="6482715"/>
            <a:ext cx="113466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 / 19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952500" y="9736455"/>
            <a:ext cx="95250" cy="9525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24" name="Text 22"/>
          <p:cNvSpPr/>
          <p:nvPr/>
        </p:nvSpPr>
        <p:spPr>
          <a:xfrm>
            <a:off x="1181100" y="9681210"/>
            <a:ext cx="27511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· TBW RESEARCH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6628030" y="9681210"/>
            <a:ext cx="7836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· FINDINGS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7790"/>
            <a:ext cx="16874490" cy="87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spc="-63" kern="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Stress is universal among students.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52500" y="2722245"/>
            <a:ext cx="7529275" cy="432435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1120" y="3072765"/>
            <a:ext cx="695459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often students feel stressed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341120" y="3629025"/>
            <a:ext cx="1213247" cy="440055"/>
          </a:xfrm>
          <a:prstGeom prst="roundRect">
            <a:avLst>
              <a:gd name="adj" fmla="val 8658"/>
            </a:avLst>
          </a:prstGeom>
          <a:solidFill>
            <a:srgbClr val="A8C5DA"/>
          </a:solidFill>
          <a:ln/>
        </p:spPr>
      </p:sp>
      <p:sp>
        <p:nvSpPr>
          <p:cNvPr id="7" name="Text 5"/>
          <p:cNvSpPr/>
          <p:nvPr/>
        </p:nvSpPr>
        <p:spPr>
          <a:xfrm>
            <a:off x="1303020" y="3324225"/>
            <a:ext cx="128944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9741" y="4145280"/>
            <a:ext cx="492204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25817" y="3629025"/>
            <a:ext cx="1213247" cy="1320165"/>
          </a:xfrm>
          <a:prstGeom prst="roundRect">
            <a:avLst>
              <a:gd name="adj" fmla="val 3140"/>
            </a:avLst>
          </a:prstGeom>
          <a:solidFill>
            <a:srgbClr val="A8C5DA"/>
          </a:solidFill>
          <a:ln/>
        </p:spPr>
      </p:sp>
      <p:sp>
        <p:nvSpPr>
          <p:cNvPr id="10" name="Text 8"/>
          <p:cNvSpPr/>
          <p:nvPr/>
        </p:nvSpPr>
        <p:spPr>
          <a:xfrm>
            <a:off x="2687717" y="3324225"/>
            <a:ext cx="128944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14913" y="5025390"/>
            <a:ext cx="511254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110514" y="3629025"/>
            <a:ext cx="1213247" cy="2861310"/>
          </a:xfrm>
          <a:prstGeom prst="roundRect">
            <a:avLst>
              <a:gd name="adj" fmla="val 3140"/>
            </a:avLst>
          </a:prstGeom>
          <a:solidFill>
            <a:srgbClr val="5E89A8"/>
          </a:solidFill>
          <a:ln/>
        </p:spPr>
      </p:sp>
      <p:sp>
        <p:nvSpPr>
          <p:cNvPr id="13" name="Text 11"/>
          <p:cNvSpPr/>
          <p:nvPr/>
        </p:nvSpPr>
        <p:spPr>
          <a:xfrm>
            <a:off x="4072414" y="3324225"/>
            <a:ext cx="128944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29351" y="6566535"/>
            <a:ext cx="851654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95211" y="3629025"/>
            <a:ext cx="1213247" cy="1791653"/>
          </a:xfrm>
          <a:prstGeom prst="roundRect">
            <a:avLst>
              <a:gd name="adj" fmla="val 3140"/>
            </a:avLst>
          </a:prstGeom>
          <a:solidFill>
            <a:srgbClr val="A8C5DA"/>
          </a:solidFill>
          <a:ln/>
        </p:spPr>
      </p:sp>
      <p:sp>
        <p:nvSpPr>
          <p:cNvPr id="16" name="Text 14"/>
          <p:cNvSpPr/>
          <p:nvPr/>
        </p:nvSpPr>
        <p:spPr>
          <a:xfrm>
            <a:off x="5457111" y="3324225"/>
            <a:ext cx="128944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05500" y="5496878"/>
            <a:ext cx="468868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79907" y="3629025"/>
            <a:ext cx="1213247" cy="1791653"/>
          </a:xfrm>
          <a:prstGeom prst="roundRect">
            <a:avLst>
              <a:gd name="adj" fmla="val 3140"/>
            </a:avLst>
          </a:prstGeom>
          <a:solidFill>
            <a:srgbClr val="A8C5DA"/>
          </a:solidFill>
          <a:ln/>
        </p:spPr>
      </p:sp>
      <p:sp>
        <p:nvSpPr>
          <p:cNvPr id="19" name="Text 17"/>
          <p:cNvSpPr/>
          <p:nvPr/>
        </p:nvSpPr>
        <p:spPr>
          <a:xfrm>
            <a:off x="6841807" y="3324225"/>
            <a:ext cx="128944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45906" y="5496878"/>
            <a:ext cx="557451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053275" y="2722245"/>
            <a:ext cx="8282226" cy="432435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41895" y="3072765"/>
            <a:ext cx="7730135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causes of stress (n=19)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441895" y="3785235"/>
            <a:ext cx="264890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uncertainty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2204145" y="3817620"/>
            <a:ext cx="3599736" cy="17145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25" name="Shape 23"/>
          <p:cNvSpPr/>
          <p:nvPr/>
        </p:nvSpPr>
        <p:spPr>
          <a:xfrm>
            <a:off x="12204145" y="3817620"/>
            <a:ext cx="3023711" cy="171450"/>
          </a:xfrm>
          <a:prstGeom prst="roundRect">
            <a:avLst>
              <a:gd name="adj" fmla="val 50000"/>
            </a:avLst>
          </a:prstGeom>
          <a:solidFill>
            <a:srgbClr val="5E89A8"/>
          </a:solidFill>
          <a:ln/>
        </p:spPr>
      </p:sp>
      <p:sp>
        <p:nvSpPr>
          <p:cNvPr id="26" name="Text 24"/>
          <p:cNvSpPr/>
          <p:nvPr/>
        </p:nvSpPr>
        <p:spPr>
          <a:xfrm>
            <a:off x="15918181" y="3781425"/>
            <a:ext cx="10287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· 84%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441895" y="4257675"/>
            <a:ext cx="264890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workload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2204145" y="4290060"/>
            <a:ext cx="3599736" cy="17145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29" name="Shape 27"/>
          <p:cNvSpPr/>
          <p:nvPr/>
        </p:nvSpPr>
        <p:spPr>
          <a:xfrm>
            <a:off x="12204145" y="4290060"/>
            <a:ext cx="2447806" cy="171450"/>
          </a:xfrm>
          <a:prstGeom prst="roundRect">
            <a:avLst>
              <a:gd name="adj" fmla="val 50000"/>
            </a:avLst>
          </a:prstGeom>
          <a:solidFill>
            <a:srgbClr val="5E89A8"/>
          </a:solidFill>
          <a:ln/>
        </p:spPr>
      </p:sp>
      <p:sp>
        <p:nvSpPr>
          <p:cNvPr id="30" name="Text 28"/>
          <p:cNvSpPr/>
          <p:nvPr/>
        </p:nvSpPr>
        <p:spPr>
          <a:xfrm>
            <a:off x="15918181" y="4253865"/>
            <a:ext cx="10287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 · 68%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441895" y="4730115"/>
            <a:ext cx="264890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expectations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2204145" y="4762500"/>
            <a:ext cx="3599736" cy="17145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33" name="Shape 31"/>
          <p:cNvSpPr/>
          <p:nvPr/>
        </p:nvSpPr>
        <p:spPr>
          <a:xfrm>
            <a:off x="12204145" y="4762500"/>
            <a:ext cx="1331833" cy="171450"/>
          </a:xfrm>
          <a:prstGeom prst="roundRect">
            <a:avLst>
              <a:gd name="adj" fmla="val 50000"/>
            </a:avLst>
          </a:prstGeom>
          <a:solidFill>
            <a:srgbClr val="5E89A8"/>
          </a:solidFill>
          <a:ln/>
        </p:spPr>
      </p:sp>
      <p:sp>
        <p:nvSpPr>
          <p:cNvPr id="34" name="Text 32"/>
          <p:cNvSpPr/>
          <p:nvPr/>
        </p:nvSpPr>
        <p:spPr>
          <a:xfrm>
            <a:off x="15918181" y="4726305"/>
            <a:ext cx="10287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· 37%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441895" y="5202555"/>
            <a:ext cx="264890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pressure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2204145" y="5234940"/>
            <a:ext cx="3599736" cy="17145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37" name="Shape 35"/>
          <p:cNvSpPr/>
          <p:nvPr/>
        </p:nvSpPr>
        <p:spPr>
          <a:xfrm>
            <a:off x="12204145" y="5234940"/>
            <a:ext cx="935831" cy="171450"/>
          </a:xfrm>
          <a:prstGeom prst="roundRect">
            <a:avLst>
              <a:gd name="adj" fmla="val 50000"/>
            </a:avLst>
          </a:prstGeom>
          <a:solidFill>
            <a:srgbClr val="5E89A8"/>
          </a:solidFill>
          <a:ln/>
        </p:spPr>
      </p:sp>
      <p:sp>
        <p:nvSpPr>
          <p:cNvPr id="38" name="Text 36"/>
          <p:cNvSpPr/>
          <p:nvPr/>
        </p:nvSpPr>
        <p:spPr>
          <a:xfrm>
            <a:off x="15918181" y="5198745"/>
            <a:ext cx="10287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· 26%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9441895" y="5674995"/>
            <a:ext cx="2648903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relationships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12204145" y="5707380"/>
            <a:ext cx="3599736" cy="17145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41" name="Shape 39"/>
          <p:cNvSpPr/>
          <p:nvPr/>
        </p:nvSpPr>
        <p:spPr>
          <a:xfrm>
            <a:off x="12204145" y="5707380"/>
            <a:ext cx="395883" cy="171450"/>
          </a:xfrm>
          <a:prstGeom prst="roundRect">
            <a:avLst>
              <a:gd name="adj" fmla="val 50000"/>
            </a:avLst>
          </a:prstGeom>
          <a:solidFill>
            <a:srgbClr val="5E89A8"/>
          </a:solidFill>
          <a:ln/>
        </p:spPr>
      </p:sp>
      <p:sp>
        <p:nvSpPr>
          <p:cNvPr id="42" name="Text 40"/>
          <p:cNvSpPr/>
          <p:nvPr/>
        </p:nvSpPr>
        <p:spPr>
          <a:xfrm>
            <a:off x="15918181" y="5671185"/>
            <a:ext cx="102870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6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· 11%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952500" y="9736455"/>
            <a:ext cx="95250" cy="9525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44" name="Text 42"/>
          <p:cNvSpPr/>
          <p:nvPr/>
        </p:nvSpPr>
        <p:spPr>
          <a:xfrm>
            <a:off x="1181100" y="9681210"/>
            <a:ext cx="27511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· TBW RESEARCH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6628030" y="9681210"/>
            <a:ext cx="7836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· FINDINGS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7790"/>
            <a:ext cx="16874490" cy="87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spc="-63" kern="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design gap.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52500" y="2722245"/>
            <a:ext cx="7712869" cy="5410200"/>
          </a:xfrm>
          <a:prstGeom prst="roundRect">
            <a:avLst>
              <a:gd name="adj" fmla="val 1056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120" y="3998595"/>
            <a:ext cx="2857500" cy="28575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32020" y="4918710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5E89A8"/>
          </a:solidFill>
          <a:ln/>
        </p:spPr>
      </p:sp>
      <p:sp>
        <p:nvSpPr>
          <p:cNvPr id="7" name="Text 4"/>
          <p:cNvSpPr/>
          <p:nvPr/>
        </p:nvSpPr>
        <p:spPr>
          <a:xfrm>
            <a:off x="5036820" y="4878705"/>
            <a:ext cx="1631514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sought help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892534" y="4882515"/>
            <a:ext cx="46041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63%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4732020" y="5341620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7FA3BF"/>
          </a:solidFill>
          <a:ln/>
        </p:spPr>
      </p:sp>
      <p:sp>
        <p:nvSpPr>
          <p:cNvPr id="10" name="Text 7"/>
          <p:cNvSpPr/>
          <p:nvPr/>
        </p:nvSpPr>
        <p:spPr>
          <a:xfrm>
            <a:off x="5036820" y="5301615"/>
            <a:ext cx="1852256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Wanted to but didn't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892534" y="5305425"/>
            <a:ext cx="46041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21%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4732020" y="5764530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A8C5DA"/>
          </a:solidFill>
          <a:ln/>
        </p:spPr>
      </p:sp>
      <p:sp>
        <p:nvSpPr>
          <p:cNvPr id="13" name="Text 10"/>
          <p:cNvSpPr/>
          <p:nvPr/>
        </p:nvSpPr>
        <p:spPr>
          <a:xfrm>
            <a:off x="5036820" y="5724525"/>
            <a:ext cx="1090017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Sought help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892534" y="5728335"/>
            <a:ext cx="460415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16%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9236869" y="2722245"/>
            <a:ext cx="8098631" cy="5410200"/>
          </a:xfrm>
          <a:prstGeom prst="roundRect">
            <a:avLst>
              <a:gd name="adj" fmla="val 1056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25489" y="3110865"/>
            <a:ext cx="7541033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89.5%</a:t>
            </a:r>
            <a:endParaRPr lang="en-US" sz="12000" dirty="0"/>
          </a:p>
        </p:txBody>
      </p:sp>
      <p:sp>
        <p:nvSpPr>
          <p:cNvPr id="17" name="Text 14"/>
          <p:cNvSpPr/>
          <p:nvPr/>
        </p:nvSpPr>
        <p:spPr>
          <a:xfrm>
            <a:off x="9625489" y="4615815"/>
            <a:ext cx="7541033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use </a:t>
            </a:r>
            <a:pPr algn="l" indent="0" marL="0">
              <a:buNone/>
            </a:pPr>
            <a:r>
              <a:rPr lang="en-US" sz="1800" b="1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</a:t>
            </a:r>
            <a:pPr algn="l" indent="0" marL="0">
              <a:buNone/>
            </a:pPr>
            <a:r>
              <a:rPr lang="en-US" sz="18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app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625489" y="5126355"/>
            <a:ext cx="7541033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32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BARRIERS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9625489" y="5758815"/>
            <a:ext cx="2411492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self-management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6527781" y="5751195"/>
            <a:ext cx="4953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57%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625489" y="6143625"/>
            <a:ext cx="7321391" cy="9525"/>
          </a:xfrm>
          <a:prstGeom prst="rect">
            <a:avLst/>
          </a:prstGeom>
          <a:solidFill>
            <a:srgbClr val="D8E0E8"/>
          </a:solidFill>
          <a:ln/>
        </p:spPr>
      </p:sp>
      <p:sp>
        <p:nvSpPr>
          <p:cNvPr id="22" name="Text 19"/>
          <p:cNvSpPr/>
          <p:nvPr/>
        </p:nvSpPr>
        <p:spPr>
          <a:xfrm>
            <a:off x="9625489" y="6292215"/>
            <a:ext cx="228088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know where to go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16527781" y="6284595"/>
            <a:ext cx="4953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21%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625489" y="6677025"/>
            <a:ext cx="7321391" cy="9525"/>
          </a:xfrm>
          <a:prstGeom prst="rect">
            <a:avLst/>
          </a:prstGeom>
          <a:solidFill>
            <a:srgbClr val="D8E0E8"/>
          </a:solidFill>
          <a:ln/>
        </p:spPr>
      </p:sp>
      <p:sp>
        <p:nvSpPr>
          <p:cNvPr id="25" name="Text 22"/>
          <p:cNvSpPr/>
          <p:nvPr/>
        </p:nvSpPr>
        <p:spPr>
          <a:xfrm>
            <a:off x="9625489" y="6825615"/>
            <a:ext cx="127135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expensive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16527781" y="6817995"/>
            <a:ext cx="4953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16%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9625489" y="7210425"/>
            <a:ext cx="7321391" cy="9525"/>
          </a:xfrm>
          <a:prstGeom prst="rect">
            <a:avLst/>
          </a:prstGeom>
          <a:solidFill>
            <a:srgbClr val="D8E0E8"/>
          </a:solidFill>
          <a:ln/>
        </p:spPr>
      </p:sp>
      <p:sp>
        <p:nvSpPr>
          <p:cNvPr id="28" name="Text 25"/>
          <p:cNvSpPr/>
          <p:nvPr/>
        </p:nvSpPr>
        <p:spPr>
          <a:xfrm>
            <a:off x="9625489" y="7359015"/>
            <a:ext cx="1279089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stigma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6642081" y="7351395"/>
            <a:ext cx="3810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5%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952500" y="9736455"/>
            <a:ext cx="95250" cy="9525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31" name="Text 28"/>
          <p:cNvSpPr/>
          <p:nvPr/>
        </p:nvSpPr>
        <p:spPr>
          <a:xfrm>
            <a:off x="1181100" y="9681210"/>
            <a:ext cx="27511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· TBW RESEARCH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16628030" y="9681210"/>
            <a:ext cx="7836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· FINDINGS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7790"/>
            <a:ext cx="16874490" cy="87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spc="-63" kern="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students actually want.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52500" y="2722245"/>
            <a:ext cx="9223296" cy="502920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41120" y="3316605"/>
            <a:ext cx="5658105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758226" y="3316605"/>
            <a:ext cx="114300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00" spc="26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RANK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72676" y="3225165"/>
            <a:ext cx="179070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= MORE WANTED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41120" y="3762375"/>
            <a:ext cx="8446056" cy="9525"/>
          </a:xfrm>
          <a:prstGeom prst="rect">
            <a:avLst/>
          </a:prstGeom>
          <a:solidFill>
            <a:srgbClr val="D8E0E8"/>
          </a:solidFill>
          <a:ln/>
        </p:spPr>
      </p:sp>
      <p:sp>
        <p:nvSpPr>
          <p:cNvPr id="9" name="Text 7"/>
          <p:cNvSpPr/>
          <p:nvPr/>
        </p:nvSpPr>
        <p:spPr>
          <a:xfrm>
            <a:off x="1341120" y="3945255"/>
            <a:ext cx="565810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Tracker &amp; Reminders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758226" y="3941445"/>
            <a:ext cx="11430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2.89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72676" y="4004310"/>
            <a:ext cx="1714500" cy="13335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8072676" y="4004310"/>
            <a:ext cx="1628775" cy="133350"/>
          </a:xfrm>
          <a:prstGeom prst="roundRect">
            <a:avLst>
              <a:gd name="adj" fmla="val 50000"/>
            </a:avLst>
          </a:prstGeom>
          <a:solidFill>
            <a:srgbClr val="A8C5DA"/>
          </a:solidFill>
          <a:ln/>
        </p:spPr>
      </p:sp>
      <p:sp>
        <p:nvSpPr>
          <p:cNvPr id="13" name="Shape 11"/>
          <p:cNvSpPr/>
          <p:nvPr/>
        </p:nvSpPr>
        <p:spPr>
          <a:xfrm>
            <a:off x="1341120" y="4371975"/>
            <a:ext cx="8446056" cy="9525"/>
          </a:xfrm>
          <a:prstGeom prst="rect">
            <a:avLst/>
          </a:prstGeom>
          <a:solidFill>
            <a:srgbClr val="D8E0E8"/>
          </a:solidFill>
          <a:ln/>
        </p:spPr>
      </p:sp>
      <p:sp>
        <p:nvSpPr>
          <p:cNvPr id="14" name="Text 12"/>
          <p:cNvSpPr/>
          <p:nvPr/>
        </p:nvSpPr>
        <p:spPr>
          <a:xfrm>
            <a:off x="1341120" y="4554855"/>
            <a:ext cx="565810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Journaling / Daily Diary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758226" y="4551045"/>
            <a:ext cx="11430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3.00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072676" y="4613910"/>
            <a:ext cx="1714500" cy="13335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17" name="Shape 15"/>
          <p:cNvSpPr/>
          <p:nvPr/>
        </p:nvSpPr>
        <p:spPr>
          <a:xfrm>
            <a:off x="8072676" y="4613910"/>
            <a:ext cx="1508760" cy="133350"/>
          </a:xfrm>
          <a:prstGeom prst="roundRect">
            <a:avLst>
              <a:gd name="adj" fmla="val 50000"/>
            </a:avLst>
          </a:prstGeom>
          <a:solidFill>
            <a:srgbClr val="A8C5DA"/>
          </a:solidFill>
          <a:ln/>
        </p:spPr>
      </p:sp>
      <p:sp>
        <p:nvSpPr>
          <p:cNvPr id="18" name="Shape 16"/>
          <p:cNvSpPr/>
          <p:nvPr/>
        </p:nvSpPr>
        <p:spPr>
          <a:xfrm>
            <a:off x="1341120" y="4981575"/>
            <a:ext cx="8446056" cy="9525"/>
          </a:xfrm>
          <a:prstGeom prst="rect">
            <a:avLst/>
          </a:prstGeom>
          <a:solidFill>
            <a:srgbClr val="D8E0E8"/>
          </a:solidFill>
          <a:ln/>
        </p:spPr>
      </p:sp>
      <p:sp>
        <p:nvSpPr>
          <p:cNvPr id="19" name="Text 17"/>
          <p:cNvSpPr/>
          <p:nvPr/>
        </p:nvSpPr>
        <p:spPr>
          <a:xfrm>
            <a:off x="1341120" y="5164455"/>
            <a:ext cx="565810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Tracking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758226" y="5160645"/>
            <a:ext cx="11430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3.21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072676" y="5223510"/>
            <a:ext cx="1714500" cy="13335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22" name="Shape 20"/>
          <p:cNvSpPr/>
          <p:nvPr/>
        </p:nvSpPr>
        <p:spPr>
          <a:xfrm>
            <a:off x="8072676" y="5223510"/>
            <a:ext cx="1337310" cy="133350"/>
          </a:xfrm>
          <a:prstGeom prst="roundRect">
            <a:avLst>
              <a:gd name="adj" fmla="val 50000"/>
            </a:avLst>
          </a:prstGeom>
          <a:solidFill>
            <a:srgbClr val="A8C5DA"/>
          </a:solidFill>
          <a:ln/>
        </p:spPr>
      </p:sp>
      <p:sp>
        <p:nvSpPr>
          <p:cNvPr id="23" name="Shape 21"/>
          <p:cNvSpPr/>
          <p:nvPr/>
        </p:nvSpPr>
        <p:spPr>
          <a:xfrm>
            <a:off x="1341120" y="5591175"/>
            <a:ext cx="8446056" cy="9525"/>
          </a:xfrm>
          <a:prstGeom prst="rect">
            <a:avLst/>
          </a:prstGeom>
          <a:solidFill>
            <a:srgbClr val="D8E0E8"/>
          </a:solidFill>
          <a:ln/>
        </p:spPr>
      </p:sp>
      <p:sp>
        <p:nvSpPr>
          <p:cNvPr id="24" name="Text 22"/>
          <p:cNvSpPr/>
          <p:nvPr/>
        </p:nvSpPr>
        <p:spPr>
          <a:xfrm>
            <a:off x="1341120" y="5774055"/>
            <a:ext cx="565810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 / Crisis Support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758226" y="5770245"/>
            <a:ext cx="11430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3.21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072676" y="5833110"/>
            <a:ext cx="1714500" cy="13335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27" name="Shape 25"/>
          <p:cNvSpPr/>
          <p:nvPr/>
        </p:nvSpPr>
        <p:spPr>
          <a:xfrm>
            <a:off x="8072676" y="5833110"/>
            <a:ext cx="1337310" cy="133350"/>
          </a:xfrm>
          <a:prstGeom prst="roundRect">
            <a:avLst>
              <a:gd name="adj" fmla="val 50000"/>
            </a:avLst>
          </a:prstGeom>
          <a:solidFill>
            <a:srgbClr val="A8C5DA"/>
          </a:solidFill>
          <a:ln/>
        </p:spPr>
      </p:sp>
      <p:sp>
        <p:nvSpPr>
          <p:cNvPr id="28" name="Shape 26"/>
          <p:cNvSpPr/>
          <p:nvPr/>
        </p:nvSpPr>
        <p:spPr>
          <a:xfrm>
            <a:off x="1341120" y="6200775"/>
            <a:ext cx="8446056" cy="9525"/>
          </a:xfrm>
          <a:prstGeom prst="rect">
            <a:avLst/>
          </a:prstGeom>
          <a:solidFill>
            <a:srgbClr val="D8E0E8"/>
          </a:solidFill>
          <a:ln/>
        </p:spPr>
      </p:sp>
      <p:sp>
        <p:nvSpPr>
          <p:cNvPr id="29" name="Text 27"/>
          <p:cNvSpPr/>
          <p:nvPr/>
        </p:nvSpPr>
        <p:spPr>
          <a:xfrm>
            <a:off x="1341120" y="6383655"/>
            <a:ext cx="565810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Resources &amp; Articles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758226" y="6379845"/>
            <a:ext cx="11430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3.47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072676" y="6442710"/>
            <a:ext cx="1714500" cy="13335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32" name="Shape 30"/>
          <p:cNvSpPr/>
          <p:nvPr/>
        </p:nvSpPr>
        <p:spPr>
          <a:xfrm>
            <a:off x="8072676" y="6442710"/>
            <a:ext cx="1062990" cy="133350"/>
          </a:xfrm>
          <a:prstGeom prst="roundRect">
            <a:avLst>
              <a:gd name="adj" fmla="val 50000"/>
            </a:avLst>
          </a:prstGeom>
          <a:solidFill>
            <a:srgbClr val="A8C5DA"/>
          </a:solidFill>
          <a:ln/>
        </p:spPr>
      </p:sp>
      <p:sp>
        <p:nvSpPr>
          <p:cNvPr id="33" name="Shape 31"/>
          <p:cNvSpPr/>
          <p:nvPr/>
        </p:nvSpPr>
        <p:spPr>
          <a:xfrm>
            <a:off x="1341120" y="6810375"/>
            <a:ext cx="8446056" cy="9525"/>
          </a:xfrm>
          <a:prstGeom prst="rect">
            <a:avLst/>
          </a:prstGeom>
          <a:solidFill>
            <a:srgbClr val="D8E0E8"/>
          </a:solidFill>
          <a:ln/>
        </p:spPr>
      </p:sp>
      <p:sp>
        <p:nvSpPr>
          <p:cNvPr id="34" name="Text 32"/>
          <p:cNvSpPr/>
          <p:nvPr/>
        </p:nvSpPr>
        <p:spPr>
          <a:xfrm>
            <a:off x="1341120" y="6993255"/>
            <a:ext cx="565810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Relaxation &amp; Breathing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6758226" y="6989445"/>
            <a:ext cx="11430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3.53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072676" y="7052310"/>
            <a:ext cx="1714500" cy="133350"/>
          </a:xfrm>
          <a:prstGeom prst="roundRect">
            <a:avLst>
              <a:gd name="adj" fmla="val 50000"/>
            </a:avLst>
          </a:prstGeom>
          <a:solidFill>
            <a:srgbClr val="EEF2F7"/>
          </a:solidFill>
          <a:ln/>
        </p:spPr>
      </p:sp>
      <p:sp>
        <p:nvSpPr>
          <p:cNvPr id="37" name="Shape 35"/>
          <p:cNvSpPr/>
          <p:nvPr/>
        </p:nvSpPr>
        <p:spPr>
          <a:xfrm>
            <a:off x="8072676" y="7052310"/>
            <a:ext cx="942975" cy="133350"/>
          </a:xfrm>
          <a:prstGeom prst="roundRect">
            <a:avLst>
              <a:gd name="adj" fmla="val 50000"/>
            </a:avLst>
          </a:prstGeom>
          <a:solidFill>
            <a:srgbClr val="A8C5DA"/>
          </a:solidFill>
          <a:ln/>
        </p:spPr>
      </p:sp>
      <p:sp>
        <p:nvSpPr>
          <p:cNvPr id="38" name="Shape 36"/>
          <p:cNvSpPr/>
          <p:nvPr/>
        </p:nvSpPr>
        <p:spPr>
          <a:xfrm>
            <a:off x="10747296" y="2722245"/>
            <a:ext cx="6588086" cy="1977390"/>
          </a:xfrm>
          <a:prstGeom prst="roundRect">
            <a:avLst>
              <a:gd name="adj" fmla="val 2890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097816" y="3072765"/>
            <a:ext cx="6063657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32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ANONYMITY PREFERENCE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11097816" y="3469005"/>
            <a:ext cx="5887045" cy="472440"/>
          </a:xfrm>
          <a:prstGeom prst="roundRect">
            <a:avLst>
              <a:gd name="adj" fmla="val 16129"/>
            </a:avLst>
          </a:prstGeom>
          <a:ln w="7620">
            <a:solidFill>
              <a:srgbClr val="D8E0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105436" y="3476625"/>
            <a:ext cx="2466142" cy="457200"/>
          </a:xfrm>
          <a:prstGeom prst="rect">
            <a:avLst/>
          </a:prstGeom>
          <a:solidFill>
            <a:srgbClr val="5E89A8"/>
          </a:solidFill>
          <a:ln/>
        </p:spPr>
      </p:sp>
      <p:sp>
        <p:nvSpPr>
          <p:cNvPr id="42" name="Text 40"/>
          <p:cNvSpPr/>
          <p:nvPr/>
        </p:nvSpPr>
        <p:spPr>
          <a:xfrm>
            <a:off x="11067336" y="3476625"/>
            <a:ext cx="254234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3571577" y="3476625"/>
            <a:ext cx="2172534" cy="457200"/>
          </a:xfrm>
          <a:prstGeom prst="rect">
            <a:avLst/>
          </a:prstGeom>
          <a:solidFill>
            <a:srgbClr val="7FA3BF"/>
          </a:solidFill>
          <a:ln/>
        </p:spPr>
      </p:sp>
      <p:sp>
        <p:nvSpPr>
          <p:cNvPr id="44" name="Text 42"/>
          <p:cNvSpPr/>
          <p:nvPr/>
        </p:nvSpPr>
        <p:spPr>
          <a:xfrm>
            <a:off x="13533477" y="3476625"/>
            <a:ext cx="224873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15744111" y="3476625"/>
            <a:ext cx="1233130" cy="457200"/>
          </a:xfrm>
          <a:prstGeom prst="rect">
            <a:avLst/>
          </a:prstGeom>
          <a:solidFill>
            <a:srgbClr val="A8C5DA"/>
          </a:solidFill>
          <a:ln/>
        </p:spPr>
      </p:sp>
      <p:sp>
        <p:nvSpPr>
          <p:cNvPr id="46" name="Text 44"/>
          <p:cNvSpPr/>
          <p:nvPr/>
        </p:nvSpPr>
        <p:spPr>
          <a:xfrm>
            <a:off x="15706011" y="3476625"/>
            <a:ext cx="13093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11097816" y="416433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5E89A8"/>
          </a:solidFill>
          <a:ln/>
        </p:spPr>
      </p:sp>
      <p:sp>
        <p:nvSpPr>
          <p:cNvPr id="48" name="Text 46"/>
          <p:cNvSpPr/>
          <p:nvPr/>
        </p:nvSpPr>
        <p:spPr>
          <a:xfrm>
            <a:off x="11326416" y="4112895"/>
            <a:ext cx="997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12475845" y="416433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7FA3BF"/>
          </a:solidFill>
          <a:ln/>
        </p:spPr>
      </p:sp>
      <p:sp>
        <p:nvSpPr>
          <p:cNvPr id="50" name="Text 48"/>
          <p:cNvSpPr/>
          <p:nvPr/>
        </p:nvSpPr>
        <p:spPr>
          <a:xfrm>
            <a:off x="12704445" y="4112895"/>
            <a:ext cx="10483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13905191" y="416433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A8C5DA"/>
          </a:solidFill>
          <a:ln/>
        </p:spPr>
      </p:sp>
      <p:sp>
        <p:nvSpPr>
          <p:cNvPr id="52" name="Text 50"/>
          <p:cNvSpPr/>
          <p:nvPr/>
        </p:nvSpPr>
        <p:spPr>
          <a:xfrm>
            <a:off x="14133791" y="4112895"/>
            <a:ext cx="5380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10747296" y="4928235"/>
            <a:ext cx="6588086" cy="2148840"/>
          </a:xfrm>
          <a:prstGeom prst="roundRect">
            <a:avLst>
              <a:gd name="adj" fmla="val 2660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097816" y="5278755"/>
            <a:ext cx="6063657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32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EASE OF USE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1097816" y="5617845"/>
            <a:ext cx="60636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</a:t>
            </a:r>
            <a:endParaRPr lang="en-US" sz="6300" dirty="0"/>
          </a:p>
        </p:txBody>
      </p:sp>
      <p:sp>
        <p:nvSpPr>
          <p:cNvPr id="56" name="Text 54"/>
          <p:cNvSpPr/>
          <p:nvPr/>
        </p:nvSpPr>
        <p:spPr>
          <a:xfrm>
            <a:off x="11097816" y="6475095"/>
            <a:ext cx="6063657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an easy UI is </a:t>
            </a:r>
            <a:pPr algn="l" indent="0" marL="0">
              <a:buNone/>
            </a:pPr>
            <a:r>
              <a:rPr lang="en-US" sz="1650" i="1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</a:t>
            </a:r>
            <a:pPr algn="l" indent="0" marL="0"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</a:t>
            </a:r>
            <a:pPr algn="l" indent="0" marL="0">
              <a:buNone/>
            </a:pPr>
            <a:r>
              <a:rPr lang="en-US" sz="1650" i="1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important</a:t>
            </a:r>
            <a:endParaRPr lang="en-US" sz="1650" dirty="0"/>
          </a:p>
        </p:txBody>
      </p:sp>
      <p:sp>
        <p:nvSpPr>
          <p:cNvPr id="57" name="Shape 55"/>
          <p:cNvSpPr/>
          <p:nvPr/>
        </p:nvSpPr>
        <p:spPr>
          <a:xfrm>
            <a:off x="952500" y="9736455"/>
            <a:ext cx="95250" cy="9525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58" name="Text 56"/>
          <p:cNvSpPr/>
          <p:nvPr/>
        </p:nvSpPr>
        <p:spPr>
          <a:xfrm>
            <a:off x="1181100" y="9681210"/>
            <a:ext cx="27511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· TBW RESEARCH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16628030" y="9681210"/>
            <a:ext cx="7836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· FINDINGS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7790"/>
            <a:ext cx="16874490" cy="87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spc="-63" kern="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students said — in their own words.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52500" y="2722245"/>
            <a:ext cx="8039100" cy="3044190"/>
          </a:xfrm>
          <a:prstGeom prst="roundRect">
            <a:avLst>
              <a:gd name="adj" fmla="val 1877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35196" y="2958465"/>
            <a:ext cx="48208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A8C5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79220" y="3148965"/>
            <a:ext cx="740123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36" kern="0" dirty="0">
                <a:solidFill>
                  <a:srgbClr val="5E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9220" y="3522345"/>
            <a:ext cx="740123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 often feel like I don't have an outlet or someone who could hear me out without judgment.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296400" y="2722245"/>
            <a:ext cx="8039100" cy="3044190"/>
          </a:xfrm>
          <a:prstGeom prst="roundRect">
            <a:avLst>
              <a:gd name="adj" fmla="val 1877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579096" y="2958465"/>
            <a:ext cx="48208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A8C5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9723120" y="3148965"/>
            <a:ext cx="740123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36" kern="0" dirty="0">
                <a:solidFill>
                  <a:srgbClr val="5E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CONTENT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23120" y="3522345"/>
            <a:ext cx="740123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Generic solutions, no room for exclusivity. Having to re-explain my situation every time.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52500" y="6071235"/>
            <a:ext cx="8039100" cy="3044190"/>
          </a:xfrm>
          <a:prstGeom prst="roundRect">
            <a:avLst>
              <a:gd name="adj" fmla="val 1877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5196" y="6307455"/>
            <a:ext cx="48208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A8C5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379220" y="6497955"/>
            <a:ext cx="740123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36" kern="0" dirty="0">
                <a:solidFill>
                  <a:srgbClr val="5E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RELEVANCE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9220" y="6871335"/>
            <a:ext cx="740123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it keeps sending motivational quotes — or Quranic verses or Hadiths.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296400" y="6071235"/>
            <a:ext cx="8039100" cy="3044190"/>
          </a:xfrm>
          <a:prstGeom prst="roundRect">
            <a:avLst>
              <a:gd name="adj" fmla="val 1877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579096" y="6307455"/>
            <a:ext cx="48208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A8C5D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9723120" y="6497955"/>
            <a:ext cx="740123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36" kern="0" dirty="0">
                <a:solidFill>
                  <a:srgbClr val="5E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23120" y="6871335"/>
            <a:ext cx="74012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one wants to feel special — they just want to feel normal.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52500" y="9736455"/>
            <a:ext cx="95250" cy="9525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21" name="Text 19"/>
          <p:cNvSpPr/>
          <p:nvPr/>
        </p:nvSpPr>
        <p:spPr>
          <a:xfrm>
            <a:off x="1181100" y="9681210"/>
            <a:ext cx="27511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· TBW RESEARCH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6628030" y="9681210"/>
            <a:ext cx="7836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5E8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14668500" y="6667500"/>
            <a:ext cx="5334000" cy="533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952500"/>
            <a:ext cx="16874490" cy="7385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5000" spc="-45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MindEase</a:t>
            </a:r>
            <a:endParaRPr lang="en-US" sz="15000" dirty="0"/>
          </a:p>
        </p:txBody>
      </p:sp>
      <p:sp>
        <p:nvSpPr>
          <p:cNvPr id="4" name="Shape 1"/>
          <p:cNvSpPr/>
          <p:nvPr/>
        </p:nvSpPr>
        <p:spPr>
          <a:xfrm>
            <a:off x="952500" y="8300085"/>
            <a:ext cx="163830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952500" y="8770620"/>
            <a:ext cx="3975806" cy="79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spc="-27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Prototype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2178479" y="8650605"/>
            <a:ext cx="5157021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FFFFFF">
                    <a:alpha val="78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Nine high-fidelity screens designed for Pakistani university students</a:t>
            </a:r>
            <a:endParaRPr lang="en-US" sz="2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7790"/>
            <a:ext cx="16874490" cy="87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spc="-63" kern="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system.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52500" y="2722245"/>
            <a:ext cx="8142923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78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52500" y="3118485"/>
            <a:ext cx="1504950" cy="1504950"/>
          </a:xfrm>
          <a:prstGeom prst="roundRect">
            <a:avLst>
              <a:gd name="adj" fmla="val 3797"/>
            </a:avLst>
          </a:prstGeom>
          <a:solidFill>
            <a:srgbClr val="EEF2F7"/>
          </a:solidFill>
          <a:ln w="762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500" y="4699635"/>
            <a:ext cx="156591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2500" y="4958715"/>
            <a:ext cx="15659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#EEF2F7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56510" y="3118485"/>
            <a:ext cx="1504950" cy="1504950"/>
          </a:xfrm>
          <a:prstGeom prst="roundRect">
            <a:avLst>
              <a:gd name="adj" fmla="val 3797"/>
            </a:avLst>
          </a:prstGeom>
          <a:solidFill>
            <a:srgbClr val="A8C5DA"/>
          </a:solidFill>
          <a:ln w="762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56510" y="4699635"/>
            <a:ext cx="156591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56510" y="4958715"/>
            <a:ext cx="15659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#A8C5DA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60520" y="3118485"/>
            <a:ext cx="1504950" cy="1504950"/>
          </a:xfrm>
          <a:prstGeom prst="roundRect">
            <a:avLst>
              <a:gd name="adj" fmla="val 3797"/>
            </a:avLst>
          </a:prstGeom>
          <a:solidFill>
            <a:srgbClr val="7FA3BF"/>
          </a:solidFill>
          <a:ln w="762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4699635"/>
            <a:ext cx="156591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Stillwater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60520" y="4958715"/>
            <a:ext cx="15659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#7FA3BF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64530" y="3118485"/>
            <a:ext cx="1504950" cy="1504950"/>
          </a:xfrm>
          <a:prstGeom prst="roundRect">
            <a:avLst>
              <a:gd name="adj" fmla="val 3797"/>
            </a:avLst>
          </a:prstGeom>
          <a:solidFill>
            <a:srgbClr val="5E89A8"/>
          </a:solidFill>
          <a:ln w="762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4530" y="4699635"/>
            <a:ext cx="156591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Deepwater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4530" y="4958715"/>
            <a:ext cx="15659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#5E89A8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68540" y="3118485"/>
            <a:ext cx="1504950" cy="1504950"/>
          </a:xfrm>
          <a:prstGeom prst="roundRect">
            <a:avLst>
              <a:gd name="adj" fmla="val 3797"/>
            </a:avLst>
          </a:prstGeom>
          <a:solidFill>
            <a:srgbClr val="2A3A4A"/>
          </a:solidFill>
          <a:ln w="762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8540" y="4699635"/>
            <a:ext cx="156591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68540" y="4958715"/>
            <a:ext cx="15659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#2A3A4A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52500" y="5454015"/>
            <a:ext cx="8142923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78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52500" y="5850255"/>
            <a:ext cx="2574250" cy="2574250"/>
          </a:xfrm>
          <a:prstGeom prst="roundRect">
            <a:avLst>
              <a:gd name="adj" fmla="val 2220"/>
            </a:avLst>
          </a:prstGeom>
          <a:solidFill>
            <a:srgbClr val="B7D4C7"/>
          </a:solidFill>
          <a:ln w="762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2500" y="8500706"/>
            <a:ext cx="263578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2500" y="8759786"/>
            <a:ext cx="26357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#B7D4C7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25810" y="5850255"/>
            <a:ext cx="2574250" cy="2574250"/>
          </a:xfrm>
          <a:prstGeom prst="roundRect">
            <a:avLst>
              <a:gd name="adj" fmla="val 2220"/>
            </a:avLst>
          </a:prstGeom>
          <a:solidFill>
            <a:srgbClr val="C9C2DD"/>
          </a:solidFill>
          <a:ln w="762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25810" y="8500706"/>
            <a:ext cx="263578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Lavender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25810" y="8759786"/>
            <a:ext cx="263578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#C9C2DD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99121" y="5850255"/>
            <a:ext cx="2574369" cy="2574369"/>
          </a:xfrm>
          <a:prstGeom prst="roundRect">
            <a:avLst>
              <a:gd name="adj" fmla="val 2220"/>
            </a:avLst>
          </a:prstGeom>
          <a:solidFill>
            <a:srgbClr val="E5D9C3"/>
          </a:solidFill>
          <a:ln w="7620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9121" y="8500825"/>
            <a:ext cx="263590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99121" y="8759904"/>
            <a:ext cx="263590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FA3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#E5D9C3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52500" y="9255204"/>
            <a:ext cx="8142923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78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05815" y="9651445"/>
            <a:ext cx="8128635" cy="1805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and calm — no gradients, no textures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by default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Culturally relevant content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Two-minute friendly interactions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9429750" y="2722245"/>
            <a:ext cx="8142923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378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9429750" y="3118485"/>
            <a:ext cx="7905750" cy="1764030"/>
          </a:xfrm>
          <a:prstGeom prst="roundRect">
            <a:avLst>
              <a:gd name="adj" fmla="val 3240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80270" y="3430905"/>
            <a:ext cx="742085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NEW ROMAN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780270" y="3712845"/>
            <a:ext cx="7420852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Breathe with the circle.</a:t>
            </a:r>
            <a:endParaRPr lang="en-US" sz="4050" dirty="0"/>
          </a:p>
        </p:txBody>
      </p:sp>
      <p:sp>
        <p:nvSpPr>
          <p:cNvPr id="36" name="Text 34"/>
          <p:cNvSpPr/>
          <p:nvPr/>
        </p:nvSpPr>
        <p:spPr>
          <a:xfrm>
            <a:off x="9780270" y="4364355"/>
            <a:ext cx="742085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· journal body · quotes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9429750" y="5073015"/>
            <a:ext cx="7905750" cy="1520190"/>
          </a:xfrm>
          <a:prstGeom prst="roundRect">
            <a:avLst>
              <a:gd name="adj" fmla="val 3759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80270" y="5385435"/>
            <a:ext cx="742085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/ INTER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9780270" y="5667375"/>
            <a:ext cx="7420852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· Breathe · Journal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9780270" y="6075045"/>
            <a:ext cx="742085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labels · buttons · navigation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9429750" y="6783705"/>
            <a:ext cx="7905750" cy="1765935"/>
          </a:xfrm>
          <a:prstGeom prst="roundRect">
            <a:avLst>
              <a:gd name="adj" fmla="val 3236"/>
            </a:avLst>
          </a:prstGeom>
          <a:solidFill>
            <a:srgbClr val="5E89A8"/>
          </a:solidFill>
          <a:ln/>
        </p:spPr>
      </p:sp>
      <p:sp>
        <p:nvSpPr>
          <p:cNvPr id="42" name="Text 40"/>
          <p:cNvSpPr/>
          <p:nvPr/>
        </p:nvSpPr>
        <p:spPr>
          <a:xfrm>
            <a:off x="9772650" y="7088505"/>
            <a:ext cx="743654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772650" y="7370445"/>
            <a:ext cx="7436549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quiet place for the mind — built for university students, between classes and everything else.</a:t>
            </a:r>
            <a:endParaRPr lang="en-US" sz="2550" dirty="0"/>
          </a:p>
        </p:txBody>
      </p:sp>
      <p:sp>
        <p:nvSpPr>
          <p:cNvPr id="44" name="Shape 42"/>
          <p:cNvSpPr/>
          <p:nvPr/>
        </p:nvSpPr>
        <p:spPr>
          <a:xfrm>
            <a:off x="952500" y="9736455"/>
            <a:ext cx="95250" cy="9525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45" name="Text 43"/>
          <p:cNvSpPr/>
          <p:nvPr/>
        </p:nvSpPr>
        <p:spPr>
          <a:xfrm>
            <a:off x="1181100" y="9681210"/>
            <a:ext cx="27511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· TBW RESEARCH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16628030" y="9681210"/>
            <a:ext cx="7836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7790"/>
            <a:ext cx="16874490" cy="87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spc="-63" kern="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Screens at a glance.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44880" y="2665095"/>
            <a:ext cx="3882390" cy="8179118"/>
          </a:xfrm>
          <a:prstGeom prst="roundRect">
            <a:avLst>
              <a:gd name="adj" fmla="val 4416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  <a:effectLst>
            <a:outerShdw sx="100000" sy="100000" kx="0" ky="0" algn="bl" rotWithShape="0" blurRad="228600" dist="76200" dir="5400000">
              <a:srgbClr val="2A3A4A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2672715"/>
            <a:ext cx="3867150" cy="81638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57331" y="10977563"/>
            <a:ext cx="93368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Welcome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116830" y="2665095"/>
            <a:ext cx="3882390" cy="8179118"/>
          </a:xfrm>
          <a:prstGeom prst="roundRect">
            <a:avLst>
              <a:gd name="adj" fmla="val 4416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  <a:effectLst>
            <a:outerShdw sx="100000" sy="100000" kx="0" ky="0" algn="bl" rotWithShape="0" blurRad="228600" dist="76200" dir="5400000">
              <a:srgbClr val="2A3A4A">
                <a:alpha val="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24450" y="2672715"/>
            <a:ext cx="3867150" cy="816387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24531" y="10977563"/>
            <a:ext cx="74306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 In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9288780" y="2665095"/>
            <a:ext cx="3882390" cy="8179118"/>
          </a:xfrm>
          <a:prstGeom prst="roundRect">
            <a:avLst>
              <a:gd name="adj" fmla="val 4416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  <a:effectLst>
            <a:outerShdw sx="100000" sy="100000" kx="0" ky="0" algn="bl" rotWithShape="0" blurRad="228600" dist="76200" dir="5400000">
              <a:srgbClr val="2A3A4A">
                <a:alpha val="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96400" y="2672715"/>
            <a:ext cx="3867150" cy="816387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50535" y="10977563"/>
            <a:ext cx="6349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13460731" y="2665095"/>
            <a:ext cx="3882390" cy="8179118"/>
          </a:xfrm>
          <a:prstGeom prst="roundRect">
            <a:avLst>
              <a:gd name="adj" fmla="val 4416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  <a:effectLst>
            <a:outerShdw sx="100000" sy="100000" kx="0" ky="0" algn="bl" rotWithShape="0" blurRad="228600" dist="76200" dir="5400000">
              <a:srgbClr val="2A3A4A">
                <a:alpha val="6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3468350" y="2672715"/>
            <a:ext cx="3867150" cy="816387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065335" y="10977563"/>
            <a:ext cx="74926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Journal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944880" y="11503343"/>
            <a:ext cx="3882390" cy="8179118"/>
          </a:xfrm>
          <a:prstGeom prst="roundRect">
            <a:avLst>
              <a:gd name="adj" fmla="val 4416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  <a:effectLst>
            <a:outerShdw sx="100000" sy="100000" kx="0" ky="0" algn="bl" rotWithShape="0" blurRad="228600" dist="76200" dir="5400000">
              <a:srgbClr val="2A3A4A">
                <a:alpha val="6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52500" y="11510963"/>
            <a:ext cx="3867150" cy="816387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530673" y="19815811"/>
            <a:ext cx="78700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Breathe</a:t>
            </a:r>
            <a:endParaRPr lang="en-US" sz="1800" dirty="0"/>
          </a:p>
        </p:txBody>
      </p:sp>
      <p:sp>
        <p:nvSpPr>
          <p:cNvPr id="19" name="Shape 12"/>
          <p:cNvSpPr/>
          <p:nvPr/>
        </p:nvSpPr>
        <p:spPr>
          <a:xfrm>
            <a:off x="5116830" y="11503343"/>
            <a:ext cx="3882390" cy="8179118"/>
          </a:xfrm>
          <a:prstGeom prst="roundRect">
            <a:avLst>
              <a:gd name="adj" fmla="val 4416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  <a:effectLst>
            <a:outerShdw sx="100000" sy="100000" kx="0" ky="0" algn="bl" rotWithShape="0" blurRad="228600" dist="76200" dir="5400000">
              <a:srgbClr val="2A3A4A">
                <a:alpha val="6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124450" y="11510963"/>
            <a:ext cx="3867150" cy="816387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588204" y="19815811"/>
            <a:ext cx="101572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Resources</a:t>
            </a:r>
            <a:endParaRPr lang="en-US" sz="1800" dirty="0"/>
          </a:p>
        </p:txBody>
      </p:sp>
      <p:sp>
        <p:nvSpPr>
          <p:cNvPr id="22" name="Shape 14"/>
          <p:cNvSpPr/>
          <p:nvPr/>
        </p:nvSpPr>
        <p:spPr>
          <a:xfrm>
            <a:off x="9288780" y="11503343"/>
            <a:ext cx="3882390" cy="8179118"/>
          </a:xfrm>
          <a:prstGeom prst="roundRect">
            <a:avLst>
              <a:gd name="adj" fmla="val 4416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  <a:effectLst>
            <a:outerShdw sx="100000" sy="100000" kx="0" ky="0" algn="bl" rotWithShape="0" blurRad="228600" dist="76200" dir="5400000">
              <a:srgbClr val="2A3A4A">
                <a:alpha val="6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296400" y="11510963"/>
            <a:ext cx="3867150" cy="816387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0950655" y="19815811"/>
            <a:ext cx="63484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Circle</a:t>
            </a:r>
            <a:endParaRPr lang="en-US" sz="1800" dirty="0"/>
          </a:p>
        </p:txBody>
      </p:sp>
      <p:sp>
        <p:nvSpPr>
          <p:cNvPr id="25" name="Shape 16"/>
          <p:cNvSpPr/>
          <p:nvPr/>
        </p:nvSpPr>
        <p:spPr>
          <a:xfrm>
            <a:off x="13460731" y="11503343"/>
            <a:ext cx="3882390" cy="8179118"/>
          </a:xfrm>
          <a:prstGeom prst="roundRect">
            <a:avLst>
              <a:gd name="adj" fmla="val 4416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  <a:effectLst>
            <a:outerShdw sx="100000" sy="100000" kx="0" ky="0" algn="bl" rotWithShape="0" blurRad="228600" dist="76200" dir="5400000">
              <a:srgbClr val="2A3A4A">
                <a:alpha val="6000"/>
              </a:srgbClr>
            </a:outerShdw>
          </a:effectLst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3468350" y="11510963"/>
            <a:ext cx="3867150" cy="816387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5008185" y="19815811"/>
            <a:ext cx="86367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Progress</a:t>
            </a:r>
            <a:endParaRPr lang="en-US" sz="1800" dirty="0"/>
          </a:p>
        </p:txBody>
      </p:sp>
      <p:sp>
        <p:nvSpPr>
          <p:cNvPr id="28" name="Shape 18"/>
          <p:cNvSpPr/>
          <p:nvPr/>
        </p:nvSpPr>
        <p:spPr>
          <a:xfrm>
            <a:off x="952500" y="9736455"/>
            <a:ext cx="95250" cy="9525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29" name="Text 19"/>
          <p:cNvSpPr/>
          <p:nvPr/>
        </p:nvSpPr>
        <p:spPr>
          <a:xfrm>
            <a:off x="1181100" y="9681210"/>
            <a:ext cx="27511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· TBW RESEARCH</a:t>
            </a:r>
            <a:endParaRPr lang="en-US" sz="1350" dirty="0"/>
          </a:p>
        </p:txBody>
      </p:sp>
      <p:sp>
        <p:nvSpPr>
          <p:cNvPr id="30" name="Text 20"/>
          <p:cNvSpPr/>
          <p:nvPr/>
        </p:nvSpPr>
        <p:spPr>
          <a:xfrm>
            <a:off x="16628030" y="9681210"/>
            <a:ext cx="7836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· PART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7790"/>
            <a:ext cx="16874490" cy="87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spc="-63" kern="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screens.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44880" y="2665095"/>
            <a:ext cx="5171361" cy="10900292"/>
          </a:xfrm>
          <a:prstGeom prst="roundRect">
            <a:avLst>
              <a:gd name="adj" fmla="val 5157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  <a:effectLst>
            <a:outerShdw sx="100000" sy="100000" kx="0" ky="0" algn="bl" rotWithShape="0" blurRad="381000" dist="133350" dir="5400000">
              <a:srgbClr val="2A3A4A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2672715"/>
            <a:ext cx="5156121" cy="108850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23104" y="13793986"/>
            <a:ext cx="129099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Welcome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2112784" y="14338817"/>
            <a:ext cx="28355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 — concentric rings, quiet entry into the app.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58201" y="2665095"/>
            <a:ext cx="5171480" cy="10900529"/>
          </a:xfrm>
          <a:prstGeom prst="roundRect">
            <a:avLst>
              <a:gd name="adj" fmla="val 5157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  <a:effectLst>
            <a:outerShdw sx="100000" sy="100000" kx="0" ky="0" algn="bl" rotWithShape="0" blurRad="381000" dist="133350" dir="5400000">
              <a:srgbClr val="2A3A4A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65821" y="2672715"/>
            <a:ext cx="5156240" cy="1088528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71560" y="13794224"/>
            <a:ext cx="102096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 In</a:t>
            </a:r>
            <a:endParaRPr lang="en-US" sz="2550" dirty="0"/>
          </a:p>
        </p:txBody>
      </p:sp>
      <p:sp>
        <p:nvSpPr>
          <p:cNvPr id="11" name="Text 7"/>
          <p:cNvSpPr/>
          <p:nvPr/>
        </p:nvSpPr>
        <p:spPr>
          <a:xfrm>
            <a:off x="8071247" y="14339054"/>
            <a:ext cx="214538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Anonymous-first approach with clear secondary login.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2171641" y="2665095"/>
            <a:ext cx="5171480" cy="10900529"/>
          </a:xfrm>
          <a:prstGeom prst="roundRect">
            <a:avLst>
              <a:gd name="adj" fmla="val 5157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  <a:effectLst>
            <a:outerShdw sx="100000" sy="100000" kx="0" ky="0" algn="bl" rotWithShape="0" blurRad="381000" dist="133350" dir="5400000">
              <a:srgbClr val="2A3A4A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179260" y="2672715"/>
            <a:ext cx="5156240" cy="1088528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361557" y="13794224"/>
            <a:ext cx="867727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</a:t>
            </a:r>
            <a:endParaRPr lang="en-US" sz="2550" dirty="0"/>
          </a:p>
        </p:txBody>
      </p:sp>
      <p:sp>
        <p:nvSpPr>
          <p:cNvPr id="15" name="Text 10"/>
          <p:cNvSpPr/>
          <p:nvPr/>
        </p:nvSpPr>
        <p:spPr>
          <a:xfrm>
            <a:off x="13533120" y="14339054"/>
            <a:ext cx="244852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Greeting, daily reminder, mood check, quick action tiles.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952500" y="9736455"/>
            <a:ext cx="95250" cy="9525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17" name="Text 12"/>
          <p:cNvSpPr/>
          <p:nvPr/>
        </p:nvSpPr>
        <p:spPr>
          <a:xfrm>
            <a:off x="1181100" y="9681210"/>
            <a:ext cx="27511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· TBW RESEARCH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628030" y="9681210"/>
            <a:ext cx="7836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· PART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7790"/>
            <a:ext cx="16874490" cy="87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spc="-63" kern="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screens.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44880" y="2665095"/>
            <a:ext cx="5171361" cy="10900292"/>
          </a:xfrm>
          <a:prstGeom prst="roundRect">
            <a:avLst>
              <a:gd name="adj" fmla="val 5157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  <a:effectLst>
            <a:outerShdw sx="100000" sy="100000" kx="0" ky="0" algn="bl" rotWithShape="0" blurRad="381000" dist="133350" dir="5400000">
              <a:srgbClr val="2A3A4A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2500" y="2672715"/>
            <a:ext cx="5156121" cy="108850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053834" y="13793986"/>
            <a:ext cx="102965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Journal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2422327" y="14338817"/>
            <a:ext cx="221634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New Roman body, tag chips, past-entries shelf.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558201" y="2665095"/>
            <a:ext cx="5171480" cy="10900529"/>
          </a:xfrm>
          <a:prstGeom prst="roundRect">
            <a:avLst>
              <a:gd name="adj" fmla="val 5157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  <a:effectLst>
            <a:outerShdw sx="100000" sy="100000" kx="0" ky="0" algn="bl" rotWithShape="0" blurRad="381000" dist="133350" dir="5400000">
              <a:srgbClr val="2A3A4A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65821" y="2672715"/>
            <a:ext cx="5156240" cy="1088528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40366" y="13794224"/>
            <a:ext cx="108323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Breathe</a:t>
            </a:r>
            <a:endParaRPr lang="en-US" sz="2550" dirty="0"/>
          </a:p>
        </p:txBody>
      </p:sp>
      <p:sp>
        <p:nvSpPr>
          <p:cNvPr id="11" name="Text 7"/>
          <p:cNvSpPr/>
          <p:nvPr/>
        </p:nvSpPr>
        <p:spPr>
          <a:xfrm>
            <a:off x="8095655" y="14339054"/>
            <a:ext cx="209645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blue background, animated breathing circle.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2171641" y="2665095"/>
            <a:ext cx="5171480" cy="10900529"/>
          </a:xfrm>
          <a:prstGeom prst="roundRect">
            <a:avLst>
              <a:gd name="adj" fmla="val 5157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  <a:effectLst>
            <a:outerShdw sx="100000" sy="100000" kx="0" ky="0" algn="bl" rotWithShape="0" blurRad="381000" dist="133350" dir="5400000">
              <a:srgbClr val="2A3A4A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179260" y="2672715"/>
            <a:ext cx="5156240" cy="1088528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361676" y="13794224"/>
            <a:ext cx="86748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Circle</a:t>
            </a:r>
            <a:endParaRPr lang="en-US" sz="2550" dirty="0"/>
          </a:p>
        </p:txBody>
      </p:sp>
      <p:sp>
        <p:nvSpPr>
          <p:cNvPr id="15" name="Text 10"/>
          <p:cNvSpPr/>
          <p:nvPr/>
        </p:nvSpPr>
        <p:spPr>
          <a:xfrm>
            <a:off x="13781484" y="14339054"/>
            <a:ext cx="195179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community, peer hugs and replies.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952500" y="9736455"/>
            <a:ext cx="95250" cy="9525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17" name="Text 12"/>
          <p:cNvSpPr/>
          <p:nvPr/>
        </p:nvSpPr>
        <p:spPr>
          <a:xfrm>
            <a:off x="1181100" y="9681210"/>
            <a:ext cx="27511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· TBW RESEARCH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628030" y="9681210"/>
            <a:ext cx="7836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E8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14668500" y="6667500"/>
            <a:ext cx="5334000" cy="533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952500"/>
            <a:ext cx="16874490" cy="7385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25500" spc="-765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4.0</a:t>
            </a:r>
            <a:endParaRPr lang="en-US" sz="25500" dirty="0"/>
          </a:p>
        </p:txBody>
      </p:sp>
      <p:sp>
        <p:nvSpPr>
          <p:cNvPr id="4" name="Shape 1"/>
          <p:cNvSpPr/>
          <p:nvPr/>
        </p:nvSpPr>
        <p:spPr>
          <a:xfrm>
            <a:off x="952500" y="8300085"/>
            <a:ext cx="163830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952500" y="8770620"/>
            <a:ext cx="3182730" cy="79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spc="-27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4547040" y="8650605"/>
            <a:ext cx="2788460" cy="91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2550" i="1" dirty="0">
                <a:solidFill>
                  <a:srgbClr val="FFFFFF">
                    <a:alpha val="78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we achieved and what comes next</a:t>
            </a:r>
            <a:endParaRPr lang="en-US" sz="2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· CONCLUSION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7790"/>
            <a:ext cx="16874490" cy="87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spc="-63" kern="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52500" y="3084195"/>
            <a:ext cx="8427803" cy="3752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research identified a significant unmet need for a student-centered mental health application at FAST-NUCES. The data confirmed a gap between the demand for support and the supply of usable, culturally grounded tools. </a:t>
            </a:r>
            <a:pPr algn="l" indent="0" marL="0">
              <a:lnSpc>
                <a:spcPct val="155000"/>
              </a:lnSpc>
              <a:buNone/>
            </a:pPr>
            <a:r>
              <a:rPr lang="en-US" sz="2400" i="1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MindEase </a:t>
            </a:r>
            <a:pPr algn="l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the first response to that gap.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896832" y="2779395"/>
            <a:ext cx="7438668" cy="727710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71152" y="2996565"/>
            <a:ext cx="711318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94.7% of students experience stress, but 89.5% use no mental health app.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896832" y="3678555"/>
            <a:ext cx="7438668" cy="727710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71152" y="3895725"/>
            <a:ext cx="711318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design gap — demand exists, supply is inadequate.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896832" y="4577715"/>
            <a:ext cx="7438668" cy="727710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71152" y="4794885"/>
            <a:ext cx="711318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prototype directly addresses identified student needs.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896832" y="5476875"/>
            <a:ext cx="7438668" cy="727710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71152" y="5694045"/>
            <a:ext cx="711318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Anonymity, cultural relevance, and simplicity are non-negotiable.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896832" y="6376035"/>
            <a:ext cx="7438668" cy="727710"/>
          </a:xfrm>
          <a:prstGeom prst="roundRect">
            <a:avLst>
              <a:gd name="adj" fmla="val 7853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71152" y="6593205"/>
            <a:ext cx="7113188" cy="33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is the foundation for future full development.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52500" y="9736455"/>
            <a:ext cx="95250" cy="9525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16" name="Text 14"/>
          <p:cNvSpPr/>
          <p:nvPr/>
        </p:nvSpPr>
        <p:spPr>
          <a:xfrm>
            <a:off x="1181100" y="9681210"/>
            <a:ext cx="27511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· TBW RESEARCH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6628030" y="9681210"/>
            <a:ext cx="7836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· RECOMMENDATIONS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7790"/>
            <a:ext cx="16874490" cy="87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spc="-63" kern="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MindEase goes next.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52500" y="2779395"/>
            <a:ext cx="8039100" cy="3444240"/>
          </a:xfrm>
          <a:prstGeom prst="roundRect">
            <a:avLst>
              <a:gd name="adj" fmla="val 1659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9220" y="3168015"/>
            <a:ext cx="3810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912620" y="3381375"/>
            <a:ext cx="2561987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Development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379220" y="3949065"/>
            <a:ext cx="740123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prototype into a functional application with backend integration, secure storage, and account anonymity preserved end-to-end.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296400" y="2779395"/>
            <a:ext cx="8039100" cy="3444240"/>
          </a:xfrm>
          <a:prstGeom prst="roundRect">
            <a:avLst>
              <a:gd name="adj" fmla="val 1659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23120" y="3168015"/>
            <a:ext cx="3810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0256520" y="3381375"/>
            <a:ext cx="2466023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Expand Research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723120" y="3949065"/>
            <a:ext cx="740123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usability testing with a larger and more diverse student sample across multiple campuses and faculties.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52500" y="6528435"/>
            <a:ext cx="8039100" cy="3444240"/>
          </a:xfrm>
          <a:prstGeom prst="roundRect">
            <a:avLst>
              <a:gd name="adj" fmla="val 1659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9220" y="6917055"/>
            <a:ext cx="3810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912620" y="7130415"/>
            <a:ext cx="2736954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Cultural Expansion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379220" y="7698105"/>
            <a:ext cx="740123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Urdu language support and broaden the Islamic content library so daily reminders reflect the user's tradition.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296400" y="6528435"/>
            <a:ext cx="8039100" cy="3444240"/>
          </a:xfrm>
          <a:prstGeom prst="roundRect">
            <a:avLst>
              <a:gd name="adj" fmla="val 1659"/>
            </a:avLst>
          </a:prstGeom>
          <a:solidFill>
            <a:srgbClr val="FFFFFF"/>
          </a:solidFill>
          <a:ln w="7620">
            <a:solidFill>
              <a:srgbClr val="D8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23120" y="6917055"/>
            <a:ext cx="3810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10256520" y="7130415"/>
            <a:ext cx="3403962" cy="41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Institutional Partnership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723120" y="7698105"/>
            <a:ext cx="740123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with the FAST counseling department to surface verified resources and an in-app pathway to professional support.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52500" y="9736455"/>
            <a:ext cx="95250" cy="9525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21" name="Text 19"/>
          <p:cNvSpPr/>
          <p:nvPr/>
        </p:nvSpPr>
        <p:spPr>
          <a:xfrm>
            <a:off x="1181100" y="9681210"/>
            <a:ext cx="27511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· TBW RESEARCH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6628030" y="9681210"/>
            <a:ext cx="7836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687449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504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367790"/>
            <a:ext cx="16874490" cy="878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spc="-63" kern="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52500" y="2817495"/>
            <a:ext cx="6477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676400" y="2817495"/>
            <a:ext cx="7397306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Lattie et al. (2020). Digital mental health interventions for college students. </a:t>
            </a:r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JMIR Mental Health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7(7), e15988.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429750" y="2817495"/>
            <a:ext cx="6477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153650" y="2817495"/>
            <a:ext cx="7397306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Chan &amp; Honey (2022). User perceptions of mental health apps. </a:t>
            </a:r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Journal of Psychiatric Nursing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29(3), 440–451.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52500" y="3787140"/>
            <a:ext cx="7905750" cy="9525"/>
          </a:xfrm>
          <a:prstGeom prst="rect">
            <a:avLst/>
          </a:prstGeom>
          <a:solidFill>
            <a:srgbClr val="D8E0E8"/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3928110"/>
            <a:ext cx="6477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676400" y="3928110"/>
            <a:ext cx="7397306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Nieto-Riveiro et al. (2020). Technologies and co-design. </a:t>
            </a:r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JMIR mHealth and uHealth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8(2), e14214.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429750" y="3787140"/>
            <a:ext cx="7905750" cy="9525"/>
          </a:xfrm>
          <a:prstGeom prst="rect">
            <a:avLst/>
          </a:prstGeom>
          <a:solidFill>
            <a:srgbClr val="D8E0E8"/>
          </a:solidFill>
          <a:ln/>
        </p:spPr>
      </p:sp>
      <p:sp>
        <p:nvSpPr>
          <p:cNvPr id="12" name="Text 10"/>
          <p:cNvSpPr/>
          <p:nvPr/>
        </p:nvSpPr>
        <p:spPr>
          <a:xfrm>
            <a:off x="9429750" y="3928110"/>
            <a:ext cx="6477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153650" y="3928110"/>
            <a:ext cx="7397306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Farao et al. (2020). A user-centred design framework for mHealth. </a:t>
            </a:r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PLOS ONE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15(8), e0237910.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52500" y="4897755"/>
            <a:ext cx="7905750" cy="9525"/>
          </a:xfrm>
          <a:prstGeom prst="rect">
            <a:avLst/>
          </a:prstGeom>
          <a:solidFill>
            <a:srgbClr val="D8E0E8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5038725"/>
            <a:ext cx="6477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676400" y="5038725"/>
            <a:ext cx="7397306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Bautista &amp; Schueller (2023). Digital mental health usage among students. </a:t>
            </a:r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JMIR Mental Health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429750" y="4897755"/>
            <a:ext cx="7905750" cy="9525"/>
          </a:xfrm>
          <a:prstGeom prst="rect">
            <a:avLst/>
          </a:prstGeom>
          <a:solidFill>
            <a:srgbClr val="D8E0E8"/>
          </a:solidFill>
          <a:ln/>
        </p:spPr>
      </p:sp>
      <p:sp>
        <p:nvSpPr>
          <p:cNvPr id="18" name="Text 16"/>
          <p:cNvSpPr/>
          <p:nvPr/>
        </p:nvSpPr>
        <p:spPr>
          <a:xfrm>
            <a:off x="9429750" y="5038725"/>
            <a:ext cx="647700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153650" y="5038725"/>
            <a:ext cx="7397306" cy="645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Koumpouros (2022). Digital tools in healthcare design. </a:t>
            </a:r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Technologies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52500" y="6008370"/>
            <a:ext cx="7905750" cy="9525"/>
          </a:xfrm>
          <a:prstGeom prst="rect">
            <a:avLst/>
          </a:prstGeom>
          <a:solidFill>
            <a:srgbClr val="D8E0E8"/>
          </a:solidFill>
          <a:ln/>
        </p:spPr>
      </p:sp>
      <p:sp>
        <p:nvSpPr>
          <p:cNvPr id="21" name="Text 19"/>
          <p:cNvSpPr/>
          <p:nvPr/>
        </p:nvSpPr>
        <p:spPr>
          <a:xfrm>
            <a:off x="952500" y="6149340"/>
            <a:ext cx="647700" cy="341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676400" y="6149340"/>
            <a:ext cx="7397306" cy="341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Vial et al. (2022). Human-centered design in mental health. </a:t>
            </a:r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JMIR Mental Health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9429750" y="6008370"/>
            <a:ext cx="7905750" cy="9525"/>
          </a:xfrm>
          <a:prstGeom prst="rect">
            <a:avLst/>
          </a:prstGeom>
          <a:solidFill>
            <a:srgbClr val="D8E0E8"/>
          </a:solidFill>
          <a:ln/>
        </p:spPr>
      </p:sp>
      <p:sp>
        <p:nvSpPr>
          <p:cNvPr id="24" name="Text 22"/>
          <p:cNvSpPr/>
          <p:nvPr/>
        </p:nvSpPr>
        <p:spPr>
          <a:xfrm>
            <a:off x="9429750" y="6149340"/>
            <a:ext cx="647700" cy="341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5E89A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[8]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0153650" y="6149340"/>
            <a:ext cx="7397306" cy="341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Saparamadu et al. (2021). User-centered design process. </a:t>
            </a:r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JMIR mHealth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2A3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952500" y="9736455"/>
            <a:ext cx="95250" cy="95250"/>
          </a:xfrm>
          <a:prstGeom prst="ellipse">
            <a:avLst/>
          </a:prstGeom>
          <a:solidFill>
            <a:srgbClr val="5E89A8"/>
          </a:solidFill>
          <a:ln/>
        </p:spPr>
      </p:sp>
      <p:sp>
        <p:nvSpPr>
          <p:cNvPr id="27" name="Text 25"/>
          <p:cNvSpPr/>
          <p:nvPr/>
        </p:nvSpPr>
        <p:spPr>
          <a:xfrm>
            <a:off x="1181100" y="9681210"/>
            <a:ext cx="275118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· TBW RESEARCH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6628030" y="9681210"/>
            <a:ext cx="783669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43" kern="0" dirty="0">
                <a:solidFill>
                  <a:srgbClr val="7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5E8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14668500" y="-1714500"/>
            <a:ext cx="5334000" cy="533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2853690"/>
            <a:ext cx="10253460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0" spc="-36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you.</a:t>
            </a:r>
            <a:endParaRPr lang="en-US" sz="18000" dirty="0"/>
          </a:p>
        </p:txBody>
      </p:sp>
      <p:sp>
        <p:nvSpPr>
          <p:cNvPr id="4" name="Text 1"/>
          <p:cNvSpPr/>
          <p:nvPr/>
        </p:nvSpPr>
        <p:spPr>
          <a:xfrm>
            <a:off x="952500" y="5292090"/>
            <a:ext cx="4185021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i="1" dirty="0">
                <a:solidFill>
                  <a:srgbClr val="FFFFFF">
                    <a:alpha val="85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&amp; discussion.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952500" y="6381750"/>
            <a:ext cx="3495080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432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· TBW · MAY 2026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52500" y="6968490"/>
            <a:ext cx="10791825" cy="69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FFFFFF">
                    <a:alpha val="75000"/>
                  </a:srgb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quiet place for the mind — built for university students, between classes and everything else.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143000" y="8930640"/>
            <a:ext cx="1600200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9166860"/>
            <a:ext cx="523231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 Ahmed </a:t>
            </a:r>
            <a:pPr algn="l" indent="0" marL="0">
              <a:buNone/>
            </a:pPr>
            <a:r>
              <a:rPr lang="en-US" sz="15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23K-0534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03921" y="9166860"/>
            <a:ext cx="523244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Furqan Halari </a:t>
            </a:r>
            <a:pPr algn="l" indent="0" marL="0">
              <a:buNone/>
            </a:pPr>
            <a:r>
              <a:rPr lang="en-US" sz="15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23K-0556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064960" y="9166860"/>
            <a:ext cx="523244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Mirza Sarim Ali Baig </a:t>
            </a:r>
            <a:pPr algn="l" indent="0" marL="0">
              <a:buNone/>
            </a:pPr>
            <a:r>
              <a:rPr lang="en-US" sz="15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23K-0048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3000" y="9479280"/>
            <a:ext cx="523231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Umar bin Abid </a:t>
            </a:r>
            <a:pPr algn="l" indent="0" marL="0">
              <a:buNone/>
            </a:pPr>
            <a:r>
              <a:rPr lang="en-US" sz="15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23K-0009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03921" y="9479280"/>
            <a:ext cx="523244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Tuaha Ahmed </a:t>
            </a:r>
            <a:pPr algn="l" indent="0" marL="0">
              <a:buNone/>
            </a:pPr>
            <a:r>
              <a:rPr lang="en-US" sz="15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23K-0713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064960" y="9479280"/>
            <a:ext cx="523244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Sobaan Nayaar </a:t>
            </a:r>
            <a:pPr algn="l" indent="0" marL="0">
              <a:buNone/>
            </a:pPr>
            <a:r>
              <a:rPr lang="en-US" sz="15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23K-0893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2026-05-02T14:49:42Z</dcterms:created>
  <dcterms:modified xsi:type="dcterms:W3CDTF">2026-05-02T14:49:42Z</dcterms:modified>
</cp:coreProperties>
</file>